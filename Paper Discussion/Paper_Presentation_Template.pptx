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3" r:id="rId1"/>
  </p:sldMasterIdLst>
  <p:notesMasterIdLst>
    <p:notesMasterId r:id="rId26"/>
  </p:notesMasterIdLst>
  <p:sldIdLst>
    <p:sldId id="256" r:id="rId2"/>
    <p:sldId id="295" r:id="rId3"/>
    <p:sldId id="273" r:id="rId4"/>
    <p:sldId id="257" r:id="rId5"/>
    <p:sldId id="274" r:id="rId6"/>
    <p:sldId id="267" r:id="rId7"/>
    <p:sldId id="275" r:id="rId8"/>
    <p:sldId id="276" r:id="rId9"/>
    <p:sldId id="277" r:id="rId10"/>
    <p:sldId id="307" r:id="rId11"/>
    <p:sldId id="308" r:id="rId12"/>
    <p:sldId id="296" r:id="rId13"/>
    <p:sldId id="297" r:id="rId14"/>
    <p:sldId id="304" r:id="rId15"/>
    <p:sldId id="303" r:id="rId16"/>
    <p:sldId id="298" r:id="rId17"/>
    <p:sldId id="305" r:id="rId18"/>
    <p:sldId id="306" r:id="rId19"/>
    <p:sldId id="299" r:id="rId20"/>
    <p:sldId id="300" r:id="rId21"/>
    <p:sldId id="301" r:id="rId22"/>
    <p:sldId id="302" r:id="rId23"/>
    <p:sldId id="309" r:id="rId24"/>
    <p:sldId id="281" r:id="rId25"/>
  </p:sldIdLst>
  <p:sldSz cx="12192000" cy="6858000"/>
  <p:notesSz cx="6858000" cy="9144000"/>
  <p:defaultText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4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4"/>
    <p:restoredTop sz="91976"/>
  </p:normalViewPr>
  <p:slideViewPr>
    <p:cSldViewPr snapToGrid="0">
      <p:cViewPr varScale="1">
        <p:scale>
          <a:sx n="83" d="100"/>
          <a:sy n="83" d="100"/>
        </p:scale>
        <p:origin x="224" y="608"/>
      </p:cViewPr>
      <p:guideLst/>
    </p:cSldViewPr>
  </p:slideViewPr>
  <p:outlineViewPr>
    <p:cViewPr>
      <p:scale>
        <a:sx n="33" d="100"/>
        <a:sy n="33" d="100"/>
      </p:scale>
      <p:origin x="0" y="-605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B22A86-3B29-1B42-BF1F-067BB333AF35}" type="datetimeFigureOut">
              <a:rPr lang="en-EG" smtClean="0"/>
              <a:t>09/07/2023</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7418C-74CC-0242-A6F1-6C9CC14D5309}" type="slidenum">
              <a:rPr lang="en-EG" smtClean="0"/>
              <a:t>‹#›</a:t>
            </a:fld>
            <a:endParaRPr lang="en-EG"/>
          </a:p>
        </p:txBody>
      </p:sp>
    </p:spTree>
    <p:extLst>
      <p:ext uri="{BB962C8B-B14F-4D97-AF65-F5344CB8AC3E}">
        <p14:creationId xmlns:p14="http://schemas.microsoft.com/office/powerpoint/2010/main" val="1914535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 Good Morning My Name is ... My paper ID is ... we are proposing " ..title.." in collabration with ....... and under supervision of Dr.. and Dr.. and Dr...  This paper achieves third goal of SDGs which is "Good Health and Well-Being"</a:t>
            </a:r>
          </a:p>
        </p:txBody>
      </p:sp>
      <p:sp>
        <p:nvSpPr>
          <p:cNvPr id="4" name="Slide Number Placeholder 3"/>
          <p:cNvSpPr>
            <a:spLocks noGrp="1"/>
          </p:cNvSpPr>
          <p:nvPr>
            <p:ph type="sldNum" sz="quarter" idx="5"/>
          </p:nvPr>
        </p:nvSpPr>
        <p:spPr/>
        <p:txBody>
          <a:bodyPr/>
          <a:lstStyle/>
          <a:p>
            <a:fld id="{9DB7418C-74CC-0242-A6F1-6C9CC14D5309}" type="slidenum">
              <a:rPr lang="en-EG" smtClean="0"/>
              <a:t>1</a:t>
            </a:fld>
            <a:endParaRPr lang="en-EG"/>
          </a:p>
        </p:txBody>
      </p:sp>
    </p:spTree>
    <p:extLst>
      <p:ext uri="{BB962C8B-B14F-4D97-AF65-F5344CB8AC3E}">
        <p14:creationId xmlns:p14="http://schemas.microsoft.com/office/powerpoint/2010/main" val="2204293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The Agenda for this presentation is as follows</a:t>
            </a:r>
          </a:p>
        </p:txBody>
      </p:sp>
      <p:sp>
        <p:nvSpPr>
          <p:cNvPr id="4" name="Slide Number Placeholder 3"/>
          <p:cNvSpPr>
            <a:spLocks noGrp="1"/>
          </p:cNvSpPr>
          <p:nvPr>
            <p:ph type="sldNum" sz="quarter" idx="5"/>
          </p:nvPr>
        </p:nvSpPr>
        <p:spPr/>
        <p:txBody>
          <a:bodyPr/>
          <a:lstStyle/>
          <a:p>
            <a:fld id="{9DB7418C-74CC-0242-A6F1-6C9CC14D5309}" type="slidenum">
              <a:rPr lang="en-EG" smtClean="0"/>
              <a:t>2</a:t>
            </a:fld>
            <a:endParaRPr lang="en-EG"/>
          </a:p>
        </p:txBody>
      </p:sp>
    </p:spTree>
    <p:extLst>
      <p:ext uri="{BB962C8B-B14F-4D97-AF65-F5344CB8AC3E}">
        <p14:creationId xmlns:p14="http://schemas.microsoft.com/office/powerpoint/2010/main" val="357820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-First Let's talk about Rehabilitations</a:t>
            </a:r>
          </a:p>
          <a:p>
            <a:r>
              <a:rPr lang="en-EG" dirty="0"/>
              <a:t>- What is rehabilitation ? is basically when some one has an accident or a sports man have an injury and he/she has to perform some sort of exercise to recover from this muscle injury  ......</a:t>
            </a:r>
          </a:p>
          <a:p>
            <a:r>
              <a:rPr lang="en-EG" dirty="0"/>
              <a:t>- Rehab aims to ....</a:t>
            </a:r>
          </a:p>
          <a:p>
            <a:r>
              <a:rPr lang="en-EG" dirty="0"/>
              <a:t>- this is a longterm process</a:t>
            </a:r>
          </a:p>
          <a:p>
            <a:r>
              <a:rPr lang="en-EG" dirty="0"/>
              <a:t>-WHO Initiative for 2030</a:t>
            </a:r>
          </a:p>
        </p:txBody>
      </p:sp>
      <p:sp>
        <p:nvSpPr>
          <p:cNvPr id="4" name="Slide Number Placeholder 3"/>
          <p:cNvSpPr>
            <a:spLocks noGrp="1"/>
          </p:cNvSpPr>
          <p:nvPr>
            <p:ph type="sldNum" sz="quarter" idx="5"/>
          </p:nvPr>
        </p:nvSpPr>
        <p:spPr/>
        <p:txBody>
          <a:bodyPr/>
          <a:lstStyle/>
          <a:p>
            <a:fld id="{9DB7418C-74CC-0242-A6F1-6C9CC14D5309}" type="slidenum">
              <a:rPr lang="en-EG" smtClean="0"/>
              <a:t>3</a:t>
            </a:fld>
            <a:endParaRPr lang="en-EG"/>
          </a:p>
        </p:txBody>
      </p:sp>
    </p:spTree>
    <p:extLst>
      <p:ext uri="{BB962C8B-B14F-4D97-AF65-F5344CB8AC3E}">
        <p14:creationId xmlns:p14="http://schemas.microsoft.com/office/powerpoint/2010/main" val="2160096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we try to track patient's progress , cut down cost of rehab as patient will perform the exerscie at home and provide real-time feedback</a:t>
            </a:r>
          </a:p>
        </p:txBody>
      </p:sp>
      <p:sp>
        <p:nvSpPr>
          <p:cNvPr id="4" name="Slide Number Placeholder 3"/>
          <p:cNvSpPr>
            <a:spLocks noGrp="1"/>
          </p:cNvSpPr>
          <p:nvPr>
            <p:ph type="sldNum" sz="quarter" idx="5"/>
          </p:nvPr>
        </p:nvSpPr>
        <p:spPr/>
        <p:txBody>
          <a:bodyPr/>
          <a:lstStyle/>
          <a:p>
            <a:fld id="{9DB7418C-74CC-0242-A6F1-6C9CC14D5309}" type="slidenum">
              <a:rPr lang="en-EG" smtClean="0"/>
              <a:t>4</a:t>
            </a:fld>
            <a:endParaRPr lang="en-EG"/>
          </a:p>
        </p:txBody>
      </p:sp>
    </p:spTree>
    <p:extLst>
      <p:ext uri="{BB962C8B-B14F-4D97-AF65-F5344CB8AC3E}">
        <p14:creationId xmlns:p14="http://schemas.microsoft.com/office/powerpoint/2010/main" val="2855820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 of the leading health conditions </a:t>
            </a:r>
            <a:r>
              <a:rPr lang="en-US" dirty="0" err="1"/>
              <a:t>rqui</a:t>
            </a:r>
            <a:r>
              <a:rPr lang="en-US" dirty="0"/>
              <a:t>..</a:t>
            </a:r>
          </a:p>
          <a:p>
            <a:r>
              <a:rPr lang="en-US" dirty="0"/>
              <a:t>about 2.4 billion </a:t>
            </a:r>
            <a:r>
              <a:rPr lang="en-US" dirty="0" err="1"/>
              <a:t>perople</a:t>
            </a:r>
            <a:r>
              <a:rPr lang="en-US" dirty="0"/>
              <a:t> have health condition , 50% of this number doesn't </a:t>
            </a:r>
            <a:r>
              <a:rPr lang="en-US" dirty="0" err="1"/>
              <a:t>recieve</a:t>
            </a:r>
            <a:r>
              <a:rPr lang="en-US" dirty="0"/>
              <a:t> rehab services due to the lack of the professions </a:t>
            </a:r>
          </a:p>
          <a:p>
            <a:endParaRPr lang="en-US" dirty="0"/>
          </a:p>
          <a:p>
            <a:r>
              <a:rPr lang="en-US" dirty="0"/>
              <a:t>https://</a:t>
            </a:r>
            <a:r>
              <a:rPr lang="en-US" dirty="0" err="1"/>
              <a:t>www.thelancet.com</a:t>
            </a:r>
            <a:r>
              <a:rPr lang="en-US" dirty="0"/>
              <a:t>/journals/lancet/article/PIIS0140-6736(20)32340-0/</a:t>
            </a:r>
            <a:r>
              <a:rPr lang="en-US" dirty="0" err="1"/>
              <a:t>fulltext</a:t>
            </a:r>
            <a:endParaRPr lang="en-EG" dirty="0"/>
          </a:p>
        </p:txBody>
      </p:sp>
      <p:sp>
        <p:nvSpPr>
          <p:cNvPr id="4" name="Slide Number Placeholder 3"/>
          <p:cNvSpPr>
            <a:spLocks noGrp="1"/>
          </p:cNvSpPr>
          <p:nvPr>
            <p:ph type="sldNum" sz="quarter" idx="5"/>
          </p:nvPr>
        </p:nvSpPr>
        <p:spPr/>
        <p:txBody>
          <a:bodyPr/>
          <a:lstStyle/>
          <a:p>
            <a:fld id="{9DB7418C-74CC-0242-A6F1-6C9CC14D5309}" type="slidenum">
              <a:rPr lang="en-EG" smtClean="0"/>
              <a:t>5</a:t>
            </a:fld>
            <a:endParaRPr lang="en-EG"/>
          </a:p>
        </p:txBody>
      </p:sp>
    </p:spTree>
    <p:extLst>
      <p:ext uri="{BB962C8B-B14F-4D97-AF65-F5344CB8AC3E}">
        <p14:creationId xmlns:p14="http://schemas.microsoft.com/office/powerpoint/2010/main" val="1160624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WHO has published several challenges in this domain.</a:t>
            </a:r>
            <a:br>
              <a:rPr lang="en-EG" dirty="0"/>
            </a:br>
            <a:r>
              <a:rPr lang="en-EG" dirty="0"/>
              <a:t>we try to address these highlighted challenges</a:t>
            </a:r>
          </a:p>
        </p:txBody>
      </p:sp>
      <p:sp>
        <p:nvSpPr>
          <p:cNvPr id="4" name="Slide Number Placeholder 3"/>
          <p:cNvSpPr>
            <a:spLocks noGrp="1"/>
          </p:cNvSpPr>
          <p:nvPr>
            <p:ph type="sldNum" sz="quarter" idx="5"/>
          </p:nvPr>
        </p:nvSpPr>
        <p:spPr/>
        <p:txBody>
          <a:bodyPr/>
          <a:lstStyle/>
          <a:p>
            <a:fld id="{9DB7418C-74CC-0242-A6F1-6C9CC14D5309}" type="slidenum">
              <a:rPr lang="en-EG" smtClean="0"/>
              <a:t>6</a:t>
            </a:fld>
            <a:endParaRPr lang="en-EG"/>
          </a:p>
        </p:txBody>
      </p:sp>
    </p:spTree>
    <p:extLst>
      <p:ext uri="{BB962C8B-B14F-4D97-AF65-F5344CB8AC3E}">
        <p14:creationId xmlns:p14="http://schemas.microsoft.com/office/powerpoint/2010/main" val="1039666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This graph represents the CV community contribution in this domain. </a:t>
            </a:r>
          </a:p>
          <a:p>
            <a:r>
              <a:rPr lang="en-EG" dirty="0"/>
              <a:t>Previous work in this domain can be splitted into twp categories ... </a:t>
            </a:r>
          </a:p>
          <a:p>
            <a:r>
              <a:rPr lang="en-EG" dirty="0"/>
              <a:t>We Focus on the first category and the direct rehabilitation sector</a:t>
            </a:r>
          </a:p>
          <a:p>
            <a:r>
              <a:rPr lang="en-EG" dirty="0"/>
              <a:t>Direct Rehab is when the patient perform the rehab exerise phyiscally whie virtual is when the patient play a game that try to address the recovery of the muscle</a:t>
            </a:r>
          </a:p>
        </p:txBody>
      </p:sp>
      <p:sp>
        <p:nvSpPr>
          <p:cNvPr id="4" name="Slide Number Placeholder 3"/>
          <p:cNvSpPr>
            <a:spLocks noGrp="1"/>
          </p:cNvSpPr>
          <p:nvPr>
            <p:ph type="sldNum" sz="quarter" idx="5"/>
          </p:nvPr>
        </p:nvSpPr>
        <p:spPr/>
        <p:txBody>
          <a:bodyPr/>
          <a:lstStyle/>
          <a:p>
            <a:fld id="{9DB7418C-74CC-0242-A6F1-6C9CC14D5309}" type="slidenum">
              <a:rPr lang="en-EG" smtClean="0"/>
              <a:t>7</a:t>
            </a:fld>
            <a:endParaRPr lang="en-EG"/>
          </a:p>
        </p:txBody>
      </p:sp>
    </p:spTree>
    <p:extLst>
      <p:ext uri="{BB962C8B-B14F-4D97-AF65-F5344CB8AC3E}">
        <p14:creationId xmlns:p14="http://schemas.microsoft.com/office/powerpoint/2010/main" val="1661023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First related work "title" </a:t>
            </a:r>
          </a:p>
          <a:p>
            <a:endParaRPr lang="en-EG" dirty="0"/>
          </a:p>
          <a:p>
            <a:r>
              <a:rPr lang="en-EG" dirty="0"/>
              <a:t>We chose this work to show how encoding greatly affects the results as we will demonstrate later</a:t>
            </a:r>
          </a:p>
          <a:p>
            <a:endParaRPr lang="en-EG" dirty="0"/>
          </a:p>
          <a:p>
            <a:r>
              <a:rPr lang="en-EG" dirty="0"/>
              <a:t>worked on the same dataset , tried to visualize the points into a graph and use this graph as an input for CNN (in this case ResNet)</a:t>
            </a:r>
          </a:p>
        </p:txBody>
      </p:sp>
      <p:sp>
        <p:nvSpPr>
          <p:cNvPr id="4" name="Slide Number Placeholder 3"/>
          <p:cNvSpPr>
            <a:spLocks noGrp="1"/>
          </p:cNvSpPr>
          <p:nvPr>
            <p:ph type="sldNum" sz="quarter" idx="5"/>
          </p:nvPr>
        </p:nvSpPr>
        <p:spPr/>
        <p:txBody>
          <a:bodyPr/>
          <a:lstStyle/>
          <a:p>
            <a:fld id="{9DB7418C-74CC-0242-A6F1-6C9CC14D5309}" type="slidenum">
              <a:rPr lang="en-EG" smtClean="0"/>
              <a:t>10</a:t>
            </a:fld>
            <a:endParaRPr lang="en-EG"/>
          </a:p>
        </p:txBody>
      </p:sp>
    </p:spTree>
    <p:extLst>
      <p:ext uri="{BB962C8B-B14F-4D97-AF65-F5344CB8AC3E}">
        <p14:creationId xmlns:p14="http://schemas.microsoft.com/office/powerpoint/2010/main" val="1317885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Second related work "title" </a:t>
            </a:r>
          </a:p>
          <a:p>
            <a:endParaRPr lang="en-EG" dirty="0"/>
          </a:p>
          <a:p>
            <a:r>
              <a:rPr lang="en-EG" dirty="0"/>
              <a:t>We chose this work as it have the best recorded results so far . </a:t>
            </a:r>
          </a:p>
          <a:p>
            <a:r>
              <a:rPr lang="en-EG" dirty="0"/>
              <a:t>again worked on the same dataset in addition to another one</a:t>
            </a:r>
          </a:p>
          <a:p>
            <a:r>
              <a:rPr lang="en-EG" dirty="0"/>
              <a:t>Applied CNN .</a:t>
            </a:r>
          </a:p>
          <a:p>
            <a:r>
              <a:rPr lang="en-EG" dirty="0"/>
              <a:t>The paper also include the best recorded results </a:t>
            </a:r>
          </a:p>
          <a:p>
            <a:endParaRPr lang="en-EG" dirty="0"/>
          </a:p>
        </p:txBody>
      </p:sp>
      <p:sp>
        <p:nvSpPr>
          <p:cNvPr id="4" name="Slide Number Placeholder 3"/>
          <p:cNvSpPr>
            <a:spLocks noGrp="1"/>
          </p:cNvSpPr>
          <p:nvPr>
            <p:ph type="sldNum" sz="quarter" idx="5"/>
          </p:nvPr>
        </p:nvSpPr>
        <p:spPr/>
        <p:txBody>
          <a:bodyPr/>
          <a:lstStyle/>
          <a:p>
            <a:fld id="{9DB7418C-74CC-0242-A6F1-6C9CC14D5309}" type="slidenum">
              <a:rPr lang="en-EG" smtClean="0"/>
              <a:t>11</a:t>
            </a:fld>
            <a:endParaRPr lang="en-EG"/>
          </a:p>
        </p:txBody>
      </p:sp>
    </p:spTree>
    <p:extLst>
      <p:ext uri="{BB962C8B-B14F-4D97-AF65-F5344CB8AC3E}">
        <p14:creationId xmlns:p14="http://schemas.microsoft.com/office/powerpoint/2010/main" val="618394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This graph shows our proposed methodology.</a:t>
            </a:r>
          </a:p>
          <a:p>
            <a:r>
              <a:rPr lang="en-EG" dirty="0"/>
              <a:t>The encoding part here is the main contribution the led to the results we will discuss later , as we mentioned in the first paper. </a:t>
            </a:r>
          </a:p>
          <a:p>
            <a:endParaRPr lang="en-EG" dirty="0"/>
          </a:p>
          <a:p>
            <a:r>
              <a:rPr lang="en-EG" dirty="0"/>
              <a:t>We will explain each part of the graph in details later on </a:t>
            </a:r>
          </a:p>
        </p:txBody>
      </p:sp>
      <p:sp>
        <p:nvSpPr>
          <p:cNvPr id="4" name="Slide Number Placeholder 3"/>
          <p:cNvSpPr>
            <a:spLocks noGrp="1"/>
          </p:cNvSpPr>
          <p:nvPr>
            <p:ph type="sldNum" sz="quarter" idx="5"/>
          </p:nvPr>
        </p:nvSpPr>
        <p:spPr/>
        <p:txBody>
          <a:bodyPr/>
          <a:lstStyle/>
          <a:p>
            <a:fld id="{9DB7418C-74CC-0242-A6F1-6C9CC14D5309}" type="slidenum">
              <a:rPr lang="en-EG" smtClean="0"/>
              <a:t>12</a:t>
            </a:fld>
            <a:endParaRPr lang="en-EG"/>
          </a:p>
        </p:txBody>
      </p:sp>
    </p:spTree>
    <p:extLst>
      <p:ext uri="{BB962C8B-B14F-4D97-AF65-F5344CB8AC3E}">
        <p14:creationId xmlns:p14="http://schemas.microsoft.com/office/powerpoint/2010/main" val="2617524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We used 2 datasets. </a:t>
            </a:r>
            <a:br>
              <a:rPr lang="en-EG" dirty="0"/>
            </a:br>
            <a:r>
              <a:rPr lang="en-EG" dirty="0"/>
              <a:t>first is our benchmark dataset</a:t>
            </a:r>
          </a:p>
          <a:p>
            <a:r>
              <a:rPr lang="en-EG" dirty="0"/>
              <a:t>second is our own collected dataset by a an expierenced phyisiotherapist</a:t>
            </a:r>
          </a:p>
        </p:txBody>
      </p:sp>
      <p:sp>
        <p:nvSpPr>
          <p:cNvPr id="4" name="Slide Number Placeholder 3"/>
          <p:cNvSpPr>
            <a:spLocks noGrp="1"/>
          </p:cNvSpPr>
          <p:nvPr>
            <p:ph type="sldNum" sz="quarter" idx="5"/>
          </p:nvPr>
        </p:nvSpPr>
        <p:spPr/>
        <p:txBody>
          <a:bodyPr/>
          <a:lstStyle/>
          <a:p>
            <a:fld id="{9DB7418C-74CC-0242-A6F1-6C9CC14D5309}" type="slidenum">
              <a:rPr lang="en-EG" smtClean="0"/>
              <a:t>13</a:t>
            </a:fld>
            <a:endParaRPr lang="en-EG"/>
          </a:p>
        </p:txBody>
      </p:sp>
    </p:spTree>
    <p:extLst>
      <p:ext uri="{BB962C8B-B14F-4D97-AF65-F5344CB8AC3E}">
        <p14:creationId xmlns:p14="http://schemas.microsoft.com/office/powerpoint/2010/main" val="716898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The preprocessing part "the encoding" follows as this we store the data in Vector v contating 22 body joints jn each joint contain x,y,z data over time</a:t>
            </a:r>
          </a:p>
          <a:p>
            <a:r>
              <a:rPr lang="en-EG" dirty="0"/>
              <a:t>(we will have to overcome this challenge later as we capture data in 3d)</a:t>
            </a:r>
          </a:p>
        </p:txBody>
      </p:sp>
      <p:sp>
        <p:nvSpPr>
          <p:cNvPr id="4" name="Slide Number Placeholder 3"/>
          <p:cNvSpPr>
            <a:spLocks noGrp="1"/>
          </p:cNvSpPr>
          <p:nvPr>
            <p:ph type="sldNum" sz="quarter" idx="5"/>
          </p:nvPr>
        </p:nvSpPr>
        <p:spPr/>
        <p:txBody>
          <a:bodyPr/>
          <a:lstStyle/>
          <a:p>
            <a:fld id="{9DB7418C-74CC-0242-A6F1-6C9CC14D5309}" type="slidenum">
              <a:rPr lang="en-EG" smtClean="0"/>
              <a:t>14</a:t>
            </a:fld>
            <a:endParaRPr lang="en-EG"/>
          </a:p>
        </p:txBody>
      </p:sp>
    </p:spTree>
    <p:extLst>
      <p:ext uri="{BB962C8B-B14F-4D97-AF65-F5344CB8AC3E}">
        <p14:creationId xmlns:p14="http://schemas.microsoft.com/office/powerpoint/2010/main" val="201179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for feature engineering part we apply</a:t>
            </a:r>
            <a:br>
              <a:rPr lang="en-EG" dirty="0"/>
            </a:br>
            <a:r>
              <a:rPr lang="en-EG" dirty="0"/>
              <a:t>- feature extraction using 5 different statistical techniques</a:t>
            </a:r>
          </a:p>
          <a:p>
            <a:r>
              <a:rPr lang="en-EG" dirty="0"/>
              <a:t>- FCBF feature ranking algorithm</a:t>
            </a:r>
          </a:p>
          <a:p>
            <a:r>
              <a:rPr lang="en-EG" dirty="0"/>
              <a:t>- Select only the top 20 feature (why the top 20 ? )</a:t>
            </a:r>
          </a:p>
          <a:p>
            <a:endParaRPr lang="en-EG" dirty="0"/>
          </a:p>
        </p:txBody>
      </p:sp>
      <p:sp>
        <p:nvSpPr>
          <p:cNvPr id="4" name="Slide Number Placeholder 3"/>
          <p:cNvSpPr>
            <a:spLocks noGrp="1"/>
          </p:cNvSpPr>
          <p:nvPr>
            <p:ph type="sldNum" sz="quarter" idx="5"/>
          </p:nvPr>
        </p:nvSpPr>
        <p:spPr/>
        <p:txBody>
          <a:bodyPr/>
          <a:lstStyle/>
          <a:p>
            <a:fld id="{9DB7418C-74CC-0242-A6F1-6C9CC14D5309}" type="slidenum">
              <a:rPr lang="en-EG" smtClean="0"/>
              <a:t>15</a:t>
            </a:fld>
            <a:endParaRPr lang="en-EG"/>
          </a:p>
        </p:txBody>
      </p:sp>
    </p:spTree>
    <p:extLst>
      <p:ext uri="{BB962C8B-B14F-4D97-AF65-F5344CB8AC3E}">
        <p14:creationId xmlns:p14="http://schemas.microsoft.com/office/powerpoint/2010/main" val="2990675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1$ limitation is it accepts tempelate data  in 2d while ours is in 3d format. </a:t>
            </a:r>
          </a:p>
          <a:p>
            <a:r>
              <a:rPr lang="en-EG" dirty="0"/>
              <a:t>hence we overcome this challenge by applying a very famous approach of ccombining  2 coordinates together.</a:t>
            </a:r>
          </a:p>
        </p:txBody>
      </p:sp>
      <p:sp>
        <p:nvSpPr>
          <p:cNvPr id="4" name="Slide Number Placeholder 3"/>
          <p:cNvSpPr>
            <a:spLocks noGrp="1"/>
          </p:cNvSpPr>
          <p:nvPr>
            <p:ph type="sldNum" sz="quarter" idx="5"/>
          </p:nvPr>
        </p:nvSpPr>
        <p:spPr/>
        <p:txBody>
          <a:bodyPr/>
          <a:lstStyle/>
          <a:p>
            <a:fld id="{9DB7418C-74CC-0242-A6F1-6C9CC14D5309}" type="slidenum">
              <a:rPr lang="en-EG" smtClean="0"/>
              <a:t>18</a:t>
            </a:fld>
            <a:endParaRPr lang="en-EG"/>
          </a:p>
        </p:txBody>
      </p:sp>
    </p:spTree>
    <p:extLst>
      <p:ext uri="{BB962C8B-B14F-4D97-AF65-F5344CB8AC3E}">
        <p14:creationId xmlns:p14="http://schemas.microsoft.com/office/powerpoint/2010/main" val="24530736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G" dirty="0"/>
              <a:t>The first table shows the results of exp2 as 1$ can accept n number of templates , hence we apply different n values for explanation, 1 ,2 and 3 templates .</a:t>
            </a:r>
          </a:p>
          <a:p>
            <a:endParaRPr lang="en-EG" dirty="0"/>
          </a:p>
          <a:p>
            <a:r>
              <a:rPr lang="en-EG" dirty="0"/>
              <a:t>The three-template combination yielded the ebst results for the dollarpy</a:t>
            </a:r>
          </a:p>
          <a:p>
            <a:endParaRPr lang="en-EG" dirty="0"/>
          </a:p>
          <a:p>
            <a:r>
              <a:rPr lang="en-EG" dirty="0"/>
              <a:t>The second table shows exp1 results alongside the best results achieved from exp2 . as we notice ET outperformed 1$ in all evaluation metrics . and this also out performed the best recorded accuracy from related work 2</a:t>
            </a:r>
          </a:p>
          <a:p>
            <a:endParaRPr lang="en-EG" dirty="0"/>
          </a:p>
          <a:p>
            <a:r>
              <a:rPr lang="en-EG" dirty="0"/>
              <a:t>we chose accuracy as the dataset is already balanced</a:t>
            </a:r>
          </a:p>
        </p:txBody>
      </p:sp>
      <p:sp>
        <p:nvSpPr>
          <p:cNvPr id="4" name="Slide Number Placeholder 3"/>
          <p:cNvSpPr>
            <a:spLocks noGrp="1"/>
          </p:cNvSpPr>
          <p:nvPr>
            <p:ph type="sldNum" sz="quarter" idx="5"/>
          </p:nvPr>
        </p:nvSpPr>
        <p:spPr/>
        <p:txBody>
          <a:bodyPr/>
          <a:lstStyle/>
          <a:p>
            <a:fld id="{9DB7418C-74CC-0242-A6F1-6C9CC14D5309}" type="slidenum">
              <a:rPr lang="en-EG" smtClean="0"/>
              <a:t>21</a:t>
            </a:fld>
            <a:endParaRPr lang="en-EG"/>
          </a:p>
        </p:txBody>
      </p:sp>
    </p:spTree>
    <p:extLst>
      <p:ext uri="{BB962C8B-B14F-4D97-AF65-F5344CB8AC3E}">
        <p14:creationId xmlns:p14="http://schemas.microsoft.com/office/powerpoint/2010/main" val="2064206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F490-5A50-E2E8-80BD-0CDDF7CC34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EG"/>
          </a:p>
        </p:txBody>
      </p:sp>
      <p:sp>
        <p:nvSpPr>
          <p:cNvPr id="3" name="Subtitle 2">
            <a:extLst>
              <a:ext uri="{FF2B5EF4-FFF2-40B4-BE49-F238E27FC236}">
                <a16:creationId xmlns:a16="http://schemas.microsoft.com/office/drawing/2014/main" id="{13F55DA3-9D6D-9D21-6D03-104617D1E5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EG"/>
          </a:p>
        </p:txBody>
      </p:sp>
      <p:sp>
        <p:nvSpPr>
          <p:cNvPr id="4" name="Date Placeholder 3">
            <a:extLst>
              <a:ext uri="{FF2B5EF4-FFF2-40B4-BE49-F238E27FC236}">
                <a16:creationId xmlns:a16="http://schemas.microsoft.com/office/drawing/2014/main" id="{FF4236E5-9714-6D14-A46A-239B7A047BA5}"/>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5" name="Footer Placeholder 4">
            <a:extLst>
              <a:ext uri="{FF2B5EF4-FFF2-40B4-BE49-F238E27FC236}">
                <a16:creationId xmlns:a16="http://schemas.microsoft.com/office/drawing/2014/main" id="{9207180D-4123-5354-A053-FFF03DC20638}"/>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6210572A-5539-5481-FF31-F48ABE975655}"/>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201352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F5293-B7B3-E3C2-486E-13B998873796}"/>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BAAB5544-A4C3-D8F0-5D8E-83802AEBE4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9E46DB84-308F-475C-18E3-0B610E1614F5}"/>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5" name="Footer Placeholder 4">
            <a:extLst>
              <a:ext uri="{FF2B5EF4-FFF2-40B4-BE49-F238E27FC236}">
                <a16:creationId xmlns:a16="http://schemas.microsoft.com/office/drawing/2014/main" id="{3559C0D6-C1F3-37FC-9531-03BEEF8E0E01}"/>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AA39820A-1DC4-4072-6C8D-12373468D407}"/>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4254190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0D2A7-2506-9E4A-456D-91DC2FE193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EG"/>
          </a:p>
        </p:txBody>
      </p:sp>
      <p:sp>
        <p:nvSpPr>
          <p:cNvPr id="3" name="Text Placeholder 2">
            <a:extLst>
              <a:ext uri="{FF2B5EF4-FFF2-40B4-BE49-F238E27FC236}">
                <a16:creationId xmlns:a16="http://schemas.microsoft.com/office/drawing/2014/main" id="{84B20920-ECF8-F8EE-F4A0-C1CDB09179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4C965-8012-CED5-30EA-B6F3F6BA2C7F}"/>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5" name="Footer Placeholder 4">
            <a:extLst>
              <a:ext uri="{FF2B5EF4-FFF2-40B4-BE49-F238E27FC236}">
                <a16:creationId xmlns:a16="http://schemas.microsoft.com/office/drawing/2014/main" id="{736FA4AF-B992-733C-F23A-2468811B4699}"/>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77318A8E-003A-0F3F-F01A-9EEE6F41650C}"/>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2048689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C587-D609-57F4-72FD-52726BE0C8A4}"/>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9063C3F1-BB79-C55D-AC34-96181705A3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Content Placeholder 3">
            <a:extLst>
              <a:ext uri="{FF2B5EF4-FFF2-40B4-BE49-F238E27FC236}">
                <a16:creationId xmlns:a16="http://schemas.microsoft.com/office/drawing/2014/main" id="{C606D1E7-3B19-0E5F-1D38-CE1A43E016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Date Placeholder 4">
            <a:extLst>
              <a:ext uri="{FF2B5EF4-FFF2-40B4-BE49-F238E27FC236}">
                <a16:creationId xmlns:a16="http://schemas.microsoft.com/office/drawing/2014/main" id="{26D5FA0A-4F9D-A704-64EA-8C597FB104BC}"/>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6" name="Footer Placeholder 5">
            <a:extLst>
              <a:ext uri="{FF2B5EF4-FFF2-40B4-BE49-F238E27FC236}">
                <a16:creationId xmlns:a16="http://schemas.microsoft.com/office/drawing/2014/main" id="{AF37F401-D1F8-597F-FA6B-AE8138DAE7C7}"/>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169CE36E-84C2-7A38-680E-119DDC1AD5C8}"/>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202505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C8C84-729E-5DE3-614F-0F5B26126C5D}"/>
              </a:ext>
            </a:extLst>
          </p:cNvPr>
          <p:cNvSpPr>
            <a:spLocks noGrp="1"/>
          </p:cNvSpPr>
          <p:nvPr>
            <p:ph type="title"/>
          </p:nvPr>
        </p:nvSpPr>
        <p:spPr>
          <a:xfrm>
            <a:off x="839788" y="365125"/>
            <a:ext cx="10515600" cy="1325563"/>
          </a:xfrm>
        </p:spPr>
        <p:txBody>
          <a:bodyPr/>
          <a:lstStyle/>
          <a:p>
            <a:r>
              <a:rPr lang="en-US"/>
              <a:t>Click to edit Master title style</a:t>
            </a:r>
            <a:endParaRPr lang="en-EG"/>
          </a:p>
        </p:txBody>
      </p:sp>
      <p:sp>
        <p:nvSpPr>
          <p:cNvPr id="3" name="Text Placeholder 2">
            <a:extLst>
              <a:ext uri="{FF2B5EF4-FFF2-40B4-BE49-F238E27FC236}">
                <a16:creationId xmlns:a16="http://schemas.microsoft.com/office/drawing/2014/main" id="{60A10362-23AB-64C4-0DF3-298359EEE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C708EC-8315-F394-F904-032F6F4D50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ext Placeholder 4">
            <a:extLst>
              <a:ext uri="{FF2B5EF4-FFF2-40B4-BE49-F238E27FC236}">
                <a16:creationId xmlns:a16="http://schemas.microsoft.com/office/drawing/2014/main" id="{8205E953-41B4-716C-0C1D-EBC56D5DEA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4ACEB2-35A2-B074-89EB-8866431889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7" name="Date Placeholder 6">
            <a:extLst>
              <a:ext uri="{FF2B5EF4-FFF2-40B4-BE49-F238E27FC236}">
                <a16:creationId xmlns:a16="http://schemas.microsoft.com/office/drawing/2014/main" id="{87634FD5-6CFB-30D0-FFF5-A8A65ACEE2A3}"/>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8" name="Footer Placeholder 7">
            <a:extLst>
              <a:ext uri="{FF2B5EF4-FFF2-40B4-BE49-F238E27FC236}">
                <a16:creationId xmlns:a16="http://schemas.microsoft.com/office/drawing/2014/main" id="{EB958531-5DE3-1D1D-213A-00D7E6038897}"/>
              </a:ext>
            </a:extLst>
          </p:cNvPr>
          <p:cNvSpPr>
            <a:spLocks noGrp="1"/>
          </p:cNvSpPr>
          <p:nvPr>
            <p:ph type="ftr" sz="quarter" idx="11"/>
          </p:nvPr>
        </p:nvSpPr>
        <p:spPr/>
        <p:txBody>
          <a:bodyPr/>
          <a:lstStyle/>
          <a:p>
            <a:endParaRPr lang="en-EG"/>
          </a:p>
        </p:txBody>
      </p:sp>
      <p:sp>
        <p:nvSpPr>
          <p:cNvPr id="9" name="Slide Number Placeholder 8">
            <a:extLst>
              <a:ext uri="{FF2B5EF4-FFF2-40B4-BE49-F238E27FC236}">
                <a16:creationId xmlns:a16="http://schemas.microsoft.com/office/drawing/2014/main" id="{E49FC93B-93D5-26F4-0574-3F5755E35028}"/>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1465920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0DA0C-E041-E86A-332B-E3F4A274F4C1}"/>
              </a:ext>
            </a:extLst>
          </p:cNvPr>
          <p:cNvSpPr>
            <a:spLocks noGrp="1"/>
          </p:cNvSpPr>
          <p:nvPr>
            <p:ph type="title"/>
          </p:nvPr>
        </p:nvSpPr>
        <p:spPr/>
        <p:txBody>
          <a:bodyPr/>
          <a:lstStyle/>
          <a:p>
            <a:r>
              <a:rPr lang="en-US"/>
              <a:t>Click to edit Master title style</a:t>
            </a:r>
            <a:endParaRPr lang="en-EG"/>
          </a:p>
        </p:txBody>
      </p:sp>
      <p:sp>
        <p:nvSpPr>
          <p:cNvPr id="3" name="Date Placeholder 2">
            <a:extLst>
              <a:ext uri="{FF2B5EF4-FFF2-40B4-BE49-F238E27FC236}">
                <a16:creationId xmlns:a16="http://schemas.microsoft.com/office/drawing/2014/main" id="{40CB6D6C-45EE-C232-2C0F-849F571DE7F4}"/>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4" name="Footer Placeholder 3">
            <a:extLst>
              <a:ext uri="{FF2B5EF4-FFF2-40B4-BE49-F238E27FC236}">
                <a16:creationId xmlns:a16="http://schemas.microsoft.com/office/drawing/2014/main" id="{A89B5081-ED3A-AFCF-9810-85B6CDC9F53E}"/>
              </a:ext>
            </a:extLst>
          </p:cNvPr>
          <p:cNvSpPr>
            <a:spLocks noGrp="1"/>
          </p:cNvSpPr>
          <p:nvPr>
            <p:ph type="ftr" sz="quarter" idx="11"/>
          </p:nvPr>
        </p:nvSpPr>
        <p:spPr/>
        <p:txBody>
          <a:bodyPr/>
          <a:lstStyle/>
          <a:p>
            <a:endParaRPr lang="en-EG"/>
          </a:p>
        </p:txBody>
      </p:sp>
      <p:sp>
        <p:nvSpPr>
          <p:cNvPr id="5" name="Slide Number Placeholder 4">
            <a:extLst>
              <a:ext uri="{FF2B5EF4-FFF2-40B4-BE49-F238E27FC236}">
                <a16:creationId xmlns:a16="http://schemas.microsoft.com/office/drawing/2014/main" id="{9FAFED63-0A50-4142-3B96-A4C8C79F691F}"/>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4112666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5BE331-580E-AB14-A716-B248E1487709}"/>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3" name="Footer Placeholder 2">
            <a:extLst>
              <a:ext uri="{FF2B5EF4-FFF2-40B4-BE49-F238E27FC236}">
                <a16:creationId xmlns:a16="http://schemas.microsoft.com/office/drawing/2014/main" id="{100F4BB9-5A94-54AA-644C-F5BA27A1F13C}"/>
              </a:ext>
            </a:extLst>
          </p:cNvPr>
          <p:cNvSpPr>
            <a:spLocks noGrp="1"/>
          </p:cNvSpPr>
          <p:nvPr>
            <p:ph type="ftr" sz="quarter" idx="11"/>
          </p:nvPr>
        </p:nvSpPr>
        <p:spPr/>
        <p:txBody>
          <a:bodyPr/>
          <a:lstStyle/>
          <a:p>
            <a:endParaRPr lang="en-EG"/>
          </a:p>
        </p:txBody>
      </p:sp>
      <p:sp>
        <p:nvSpPr>
          <p:cNvPr id="4" name="Slide Number Placeholder 3">
            <a:extLst>
              <a:ext uri="{FF2B5EF4-FFF2-40B4-BE49-F238E27FC236}">
                <a16:creationId xmlns:a16="http://schemas.microsoft.com/office/drawing/2014/main" id="{1ADD1822-2DCF-CD8E-AC12-F46BE561DF91}"/>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2215894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DBED5-CF10-EC84-EF18-0413C18ABB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Content Placeholder 2">
            <a:extLst>
              <a:ext uri="{FF2B5EF4-FFF2-40B4-BE49-F238E27FC236}">
                <a16:creationId xmlns:a16="http://schemas.microsoft.com/office/drawing/2014/main" id="{2729C746-51F5-8CC0-93E5-3003FBA859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Text Placeholder 3">
            <a:extLst>
              <a:ext uri="{FF2B5EF4-FFF2-40B4-BE49-F238E27FC236}">
                <a16:creationId xmlns:a16="http://schemas.microsoft.com/office/drawing/2014/main" id="{022C0F5D-68B9-068E-1051-4079D90A7B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E6A290-F705-F980-6C5B-5C9873275437}"/>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6" name="Footer Placeholder 5">
            <a:extLst>
              <a:ext uri="{FF2B5EF4-FFF2-40B4-BE49-F238E27FC236}">
                <a16:creationId xmlns:a16="http://schemas.microsoft.com/office/drawing/2014/main" id="{D60BF667-D583-9E7F-0EA9-59A5E394058B}"/>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97E761C1-937F-31C0-267B-907EE46C2875}"/>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1588115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E618B-6D78-5370-BF90-B6BCFF0233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Picture Placeholder 2">
            <a:extLst>
              <a:ext uri="{FF2B5EF4-FFF2-40B4-BE49-F238E27FC236}">
                <a16:creationId xmlns:a16="http://schemas.microsoft.com/office/drawing/2014/main" id="{DEAFBBF6-8EAB-7686-514F-7B344DC068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G"/>
          </a:p>
        </p:txBody>
      </p:sp>
      <p:sp>
        <p:nvSpPr>
          <p:cNvPr id="4" name="Text Placeholder 3">
            <a:extLst>
              <a:ext uri="{FF2B5EF4-FFF2-40B4-BE49-F238E27FC236}">
                <a16:creationId xmlns:a16="http://schemas.microsoft.com/office/drawing/2014/main" id="{0531443D-9DE2-9E04-4569-B282AB788B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5DEEA9-0BB1-593F-B53B-C127AB77F3DC}"/>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6" name="Footer Placeholder 5">
            <a:extLst>
              <a:ext uri="{FF2B5EF4-FFF2-40B4-BE49-F238E27FC236}">
                <a16:creationId xmlns:a16="http://schemas.microsoft.com/office/drawing/2014/main" id="{80862F28-8C32-9E25-9E4A-187973107DDE}"/>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892CCB77-807A-97CF-B678-208C85FF4364}"/>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1537046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FA09F-0EC6-079F-9BB2-48264864E74B}"/>
              </a:ext>
            </a:extLst>
          </p:cNvPr>
          <p:cNvSpPr>
            <a:spLocks noGrp="1"/>
          </p:cNvSpPr>
          <p:nvPr>
            <p:ph type="title"/>
          </p:nvPr>
        </p:nvSpPr>
        <p:spPr/>
        <p:txBody>
          <a:bodyPr/>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49499573-1DAA-9475-18E9-C47ACA217E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D697FED9-9874-8974-53B2-7CC4915C8093}"/>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5" name="Footer Placeholder 4">
            <a:extLst>
              <a:ext uri="{FF2B5EF4-FFF2-40B4-BE49-F238E27FC236}">
                <a16:creationId xmlns:a16="http://schemas.microsoft.com/office/drawing/2014/main" id="{B1CA3363-D54C-48C7-956D-D77EFDAE2C9F}"/>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63A606AB-4289-6479-DC4D-701BECDD4D6D}"/>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4111570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A5688-EDCB-400C-8B5F-6BADA173C7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5F143429-0D14-C154-FFCE-590B9ADA94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63714F33-8E77-6957-5D5F-3FD1FD4B9489}"/>
              </a:ext>
            </a:extLst>
          </p:cNvPr>
          <p:cNvSpPr>
            <a:spLocks noGrp="1"/>
          </p:cNvSpPr>
          <p:nvPr>
            <p:ph type="dt" sz="half" idx="10"/>
          </p:nvPr>
        </p:nvSpPr>
        <p:spPr/>
        <p:txBody>
          <a:bodyPr/>
          <a:lstStyle/>
          <a:p>
            <a:fld id="{4E43E047-0C45-6143-91AA-C4865AFDB7E7}" type="datetimeFigureOut">
              <a:rPr lang="en-EG" smtClean="0"/>
              <a:t>09/07/2023</a:t>
            </a:fld>
            <a:endParaRPr lang="en-EG"/>
          </a:p>
        </p:txBody>
      </p:sp>
      <p:sp>
        <p:nvSpPr>
          <p:cNvPr id="5" name="Footer Placeholder 4">
            <a:extLst>
              <a:ext uri="{FF2B5EF4-FFF2-40B4-BE49-F238E27FC236}">
                <a16:creationId xmlns:a16="http://schemas.microsoft.com/office/drawing/2014/main" id="{A5FC877B-00C5-A56D-6532-64D25AB786E0}"/>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60ECDAFA-726A-606F-844D-6DA0AC3B7B64}"/>
              </a:ext>
            </a:extLst>
          </p:cNvPr>
          <p:cNvSpPr>
            <a:spLocks noGrp="1"/>
          </p:cNvSpPr>
          <p:nvPr>
            <p:ph type="sldNum" sz="quarter" idx="12"/>
          </p:nvPr>
        </p:nvSpPr>
        <p:spPr/>
        <p:txBody>
          <a:bodyPr/>
          <a:lstStyle/>
          <a:p>
            <a:fld id="{A0E71F06-E3F5-E242-AD46-023EB074373D}" type="slidenum">
              <a:rPr lang="en-EG" smtClean="0"/>
              <a:t>‹#›</a:t>
            </a:fld>
            <a:endParaRPr lang="en-EG"/>
          </a:p>
        </p:txBody>
      </p:sp>
    </p:spTree>
    <p:extLst>
      <p:ext uri="{BB962C8B-B14F-4D97-AF65-F5344CB8AC3E}">
        <p14:creationId xmlns:p14="http://schemas.microsoft.com/office/powerpoint/2010/main" val="1707212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153CC6-BBAA-F892-D26A-E43CB6EC78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EG"/>
          </a:p>
        </p:txBody>
      </p:sp>
      <p:sp>
        <p:nvSpPr>
          <p:cNvPr id="3" name="Text Placeholder 2">
            <a:extLst>
              <a:ext uri="{FF2B5EF4-FFF2-40B4-BE49-F238E27FC236}">
                <a16:creationId xmlns:a16="http://schemas.microsoft.com/office/drawing/2014/main" id="{6019DC52-15AB-DFBD-ABF7-A57ED063C4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FE934246-A95A-4347-12E4-32F7C04365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43E047-0C45-6143-91AA-C4865AFDB7E7}" type="datetimeFigureOut">
              <a:rPr lang="en-EG" smtClean="0"/>
              <a:t>09/07/2023</a:t>
            </a:fld>
            <a:endParaRPr lang="en-EG"/>
          </a:p>
        </p:txBody>
      </p:sp>
      <p:sp>
        <p:nvSpPr>
          <p:cNvPr id="5" name="Footer Placeholder 4">
            <a:extLst>
              <a:ext uri="{FF2B5EF4-FFF2-40B4-BE49-F238E27FC236}">
                <a16:creationId xmlns:a16="http://schemas.microsoft.com/office/drawing/2014/main" id="{7DA87A7A-E44B-8E07-4197-40A2E537B9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EG"/>
          </a:p>
        </p:txBody>
      </p:sp>
      <p:sp>
        <p:nvSpPr>
          <p:cNvPr id="6" name="Slide Number Placeholder 5">
            <a:extLst>
              <a:ext uri="{FF2B5EF4-FFF2-40B4-BE49-F238E27FC236}">
                <a16:creationId xmlns:a16="http://schemas.microsoft.com/office/drawing/2014/main" id="{DCB34FAB-9A3E-0ED6-830E-8C725276B7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E71F06-E3F5-E242-AD46-023EB074373D}" type="slidenum">
              <a:rPr lang="en-EG" smtClean="0"/>
              <a:t>‹#›</a:t>
            </a:fld>
            <a:endParaRPr lang="en-EG"/>
          </a:p>
        </p:txBody>
      </p:sp>
    </p:spTree>
    <p:extLst>
      <p:ext uri="{BB962C8B-B14F-4D97-AF65-F5344CB8AC3E}">
        <p14:creationId xmlns:p14="http://schemas.microsoft.com/office/powerpoint/2010/main" val="2392996400"/>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3.xml"/><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0.xml"/><Relationship Id="rId11" Type="http://schemas.openxmlformats.org/officeDocument/2006/relationships/slide" Target="slide22.xml"/><Relationship Id="rId5" Type="http://schemas.openxmlformats.org/officeDocument/2006/relationships/slide" Target="slide6.xml"/><Relationship Id="rId10" Type="http://schemas.openxmlformats.org/officeDocument/2006/relationships/slide" Target="slide21.xml"/><Relationship Id="rId4" Type="http://schemas.openxmlformats.org/officeDocument/2006/relationships/slide" Target="slide5.xml"/><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hyperlink" Target="https://www.who.int/health-topics/rehabilitation#tab=tab_1"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www.who.int/health-topics/rehabilitation#tab=tab_1"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who.int/health-topics/rehabilitation#tab=tab_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hyperlink" Target="https://www.who.int/news-room/fact-sheets/detail/rehabilitatio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0CD4F-CAF7-EEE4-2777-99383FB248D7}"/>
              </a:ext>
            </a:extLst>
          </p:cNvPr>
          <p:cNvSpPr>
            <a:spLocks noGrp="1"/>
          </p:cNvSpPr>
          <p:nvPr>
            <p:ph type="ctrTitle"/>
          </p:nvPr>
        </p:nvSpPr>
        <p:spPr>
          <a:xfrm>
            <a:off x="1524000" y="1975606"/>
            <a:ext cx="9144000" cy="1292856"/>
          </a:xfrm>
        </p:spPr>
        <p:txBody>
          <a:bodyPr>
            <a:noAutofit/>
          </a:bodyPr>
          <a:lstStyle/>
          <a:p>
            <a:r>
              <a:rPr lang="en-US" sz="4000" b="1" i="0" u="none" strike="noStrike" dirty="0">
                <a:solidFill>
                  <a:srgbClr val="006499"/>
                </a:solidFill>
                <a:effectLst/>
                <a:latin typeface="Arial" panose="020B0604020202020204" pitchFamily="34" charset="0"/>
              </a:rPr>
              <a:t>A Framework for Assessing Physical Rehabilitation Exercises</a:t>
            </a:r>
            <a:endParaRPr lang="en-EG" sz="4000" b="1" dirty="0">
              <a:solidFill>
                <a:srgbClr val="006499"/>
              </a:solidFill>
            </a:endParaRPr>
          </a:p>
        </p:txBody>
      </p:sp>
      <p:sp>
        <p:nvSpPr>
          <p:cNvPr id="7" name="Text Box 2">
            <a:extLst>
              <a:ext uri="{FF2B5EF4-FFF2-40B4-BE49-F238E27FC236}">
                <a16:creationId xmlns:a16="http://schemas.microsoft.com/office/drawing/2014/main" id="{7B86510E-2DED-183C-0566-D095AB5DC1EB}"/>
              </a:ext>
            </a:extLst>
          </p:cNvPr>
          <p:cNvSpPr txBox="1">
            <a:spLocks noChangeArrowheads="1"/>
          </p:cNvSpPr>
          <p:nvPr/>
        </p:nvSpPr>
        <p:spPr bwMode="auto">
          <a:xfrm>
            <a:off x="7980680" y="4789493"/>
            <a:ext cx="4094480" cy="1458647"/>
          </a:xfrm>
          <a:prstGeom prst="rect">
            <a:avLst/>
          </a:prstGeom>
          <a:no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1" i="0" u="none" strike="noStrike" cap="none" normalizeH="0" baseline="0" dirty="0">
                <a:ln>
                  <a:noFill/>
                </a:ln>
                <a:effectLst/>
                <a:latin typeface="Arial" panose="020B0604020202020204" pitchFamily="34" charset="0"/>
                <a:ea typeface="Times New Roman" panose="02020603050405020304" pitchFamily="18" charset="0"/>
              </a:rPr>
              <a:t>Assoc. Prof. Ayman Ezzat </a:t>
            </a:r>
            <a:r>
              <a:rPr kumimoji="0" lang="en-US" sz="1500" b="1" i="0" u="none" strike="noStrike" cap="none" normalizeH="0" baseline="0" dirty="0" err="1">
                <a:ln>
                  <a:noFill/>
                </a:ln>
                <a:effectLst/>
                <a:latin typeface="Arial" panose="020B0604020202020204" pitchFamily="34" charset="0"/>
                <a:ea typeface="Times New Roman" panose="02020603050405020304" pitchFamily="18" charset="0"/>
              </a:rPr>
              <a:t>Atia</a:t>
            </a:r>
            <a:endParaRPr kumimoji="0" lang="en-US" sz="1500" b="0" i="0" u="none" strike="noStrike" cap="none" normalizeH="0" baseline="0" dirty="0">
              <a:ln>
                <a:noFill/>
              </a:ln>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Faculty of Computer Science</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October University for Modern Sciences and Arts (MSA)</a:t>
            </a:r>
          </a:p>
        </p:txBody>
      </p:sp>
      <p:pic>
        <p:nvPicPr>
          <p:cNvPr id="1030" name="Picture 6">
            <a:extLst>
              <a:ext uri="{FF2B5EF4-FFF2-40B4-BE49-F238E27FC236}">
                <a16:creationId xmlns:a16="http://schemas.microsoft.com/office/drawing/2014/main" id="{8AC6FADB-0344-2377-0D52-5337BC28D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840" y="5571920"/>
            <a:ext cx="1148513" cy="1148513"/>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2">
            <a:extLst>
              <a:ext uri="{FF2B5EF4-FFF2-40B4-BE49-F238E27FC236}">
                <a16:creationId xmlns:a16="http://schemas.microsoft.com/office/drawing/2014/main" id="{5905FF68-4992-147C-42A7-1AA70710145E}"/>
              </a:ext>
            </a:extLst>
          </p:cNvPr>
          <p:cNvSpPr txBox="1">
            <a:spLocks noChangeArrowheads="1"/>
          </p:cNvSpPr>
          <p:nvPr/>
        </p:nvSpPr>
        <p:spPr bwMode="auto">
          <a:xfrm>
            <a:off x="3942080" y="4800646"/>
            <a:ext cx="4292712" cy="1458647"/>
          </a:xfrm>
          <a:prstGeom prst="rect">
            <a:avLst/>
          </a:prstGeom>
          <a:no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1" i="0" u="none" strike="noStrike" cap="none" normalizeH="0" baseline="0" dirty="0">
                <a:ln>
                  <a:noFill/>
                </a:ln>
                <a:effectLst/>
                <a:latin typeface="Arial" panose="020B0604020202020204" pitchFamily="34" charset="0"/>
                <a:ea typeface="Times New Roman" panose="02020603050405020304" pitchFamily="18" charset="0"/>
              </a:rPr>
              <a:t>Dr. Amr </a:t>
            </a:r>
            <a:r>
              <a:rPr kumimoji="0" lang="en-US" sz="1500" b="1" i="0" u="none" strike="noStrike" cap="none" normalizeH="0" baseline="0" dirty="0" err="1">
                <a:ln>
                  <a:noFill/>
                </a:ln>
                <a:effectLst/>
                <a:latin typeface="Arial" panose="020B0604020202020204" pitchFamily="34" charset="0"/>
                <a:ea typeface="Times New Roman" panose="02020603050405020304" pitchFamily="18" charset="0"/>
              </a:rPr>
              <a:t>Ghoneim</a:t>
            </a:r>
            <a:endParaRPr kumimoji="0" lang="en-US" sz="1500" b="0" i="0" u="none" strike="noStrike" cap="none" normalizeH="0" baseline="0" dirty="0">
              <a:ln>
                <a:noFill/>
              </a:ln>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Computer Science Department</a:t>
            </a:r>
            <a:endParaRPr kumimoji="0" lang="en-US" sz="1500" b="0" i="0" u="none" strike="noStrike" cap="none" normalizeH="0" baseline="0" dirty="0">
              <a:ln>
                <a:noFill/>
              </a:ln>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Faculty of Computers &amp; Artificial Intelligence</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Helwan University</a:t>
            </a:r>
          </a:p>
        </p:txBody>
      </p:sp>
      <p:sp>
        <p:nvSpPr>
          <p:cNvPr id="6" name="Text Box 2">
            <a:extLst>
              <a:ext uri="{FF2B5EF4-FFF2-40B4-BE49-F238E27FC236}">
                <a16:creationId xmlns:a16="http://schemas.microsoft.com/office/drawing/2014/main" id="{61503419-303A-EADF-E4FB-0E0510C946AF}"/>
              </a:ext>
            </a:extLst>
          </p:cNvPr>
          <p:cNvSpPr txBox="1">
            <a:spLocks noChangeArrowheads="1"/>
          </p:cNvSpPr>
          <p:nvPr/>
        </p:nvSpPr>
        <p:spPr bwMode="auto">
          <a:xfrm>
            <a:off x="206131" y="4800645"/>
            <a:ext cx="4038600" cy="1458647"/>
          </a:xfrm>
          <a:prstGeom prst="rect">
            <a:avLst/>
          </a:prstGeom>
          <a:no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1" i="0" u="none" strike="noStrike" cap="none" normalizeH="0" baseline="0" dirty="0">
                <a:ln>
                  <a:noFill/>
                </a:ln>
                <a:effectLst/>
                <a:latin typeface="Arial" panose="020B0604020202020204" pitchFamily="34" charset="0"/>
                <a:ea typeface="Times New Roman" panose="02020603050405020304" pitchFamily="18" charset="0"/>
              </a:rPr>
              <a:t>Dr. Laila M. Abdelhamid</a:t>
            </a:r>
            <a:endParaRPr kumimoji="0" lang="en-US" sz="1500" b="0" i="0" u="none" strike="noStrike" cap="none" normalizeH="0" baseline="0" dirty="0">
              <a:ln>
                <a:noFill/>
              </a:ln>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Information System Department</a:t>
            </a:r>
            <a:endParaRPr kumimoji="0" lang="en-US" sz="1500" b="0" i="0" u="none" strike="noStrike" cap="none" normalizeH="0" baseline="0" dirty="0">
              <a:ln>
                <a:noFill/>
              </a:ln>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Faculty of Computers &amp; </a:t>
            </a:r>
            <a:r>
              <a:rPr lang="en-US" sz="1500" dirty="0">
                <a:latin typeface="Arial" panose="020B0604020202020204" pitchFamily="34" charset="0"/>
                <a:ea typeface="Times New Roman" panose="02020603050405020304" pitchFamily="18" charset="0"/>
              </a:rPr>
              <a:t> </a:t>
            </a: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Artificial Intelligence</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Helwan University</a:t>
            </a:r>
          </a:p>
        </p:txBody>
      </p:sp>
      <p:sp>
        <p:nvSpPr>
          <p:cNvPr id="8" name="TextBox 7">
            <a:extLst>
              <a:ext uri="{FF2B5EF4-FFF2-40B4-BE49-F238E27FC236}">
                <a16:creationId xmlns:a16="http://schemas.microsoft.com/office/drawing/2014/main" id="{C9DEFBE5-68B7-F76E-2FC4-D843EE10B64E}"/>
              </a:ext>
            </a:extLst>
          </p:cNvPr>
          <p:cNvSpPr txBox="1"/>
          <p:nvPr/>
        </p:nvSpPr>
        <p:spPr>
          <a:xfrm>
            <a:off x="-10430" y="137567"/>
            <a:ext cx="8145426" cy="769441"/>
          </a:xfrm>
          <a:prstGeom prst="rect">
            <a:avLst/>
          </a:prstGeom>
          <a:noFill/>
        </p:spPr>
        <p:txBody>
          <a:bodyPr wrap="square" rtlCol="0">
            <a:spAutoFit/>
          </a:bodyPr>
          <a:lstStyle/>
          <a:p>
            <a:r>
              <a:rPr lang="en-US" sz="2200" b="1" i="0" u="none" strike="noStrike" dirty="0">
                <a:solidFill>
                  <a:srgbClr val="006499"/>
                </a:solidFill>
                <a:effectLst/>
                <a:latin typeface="Noto Serif" panose="02020600060500020200" pitchFamily="18" charset="0"/>
              </a:rPr>
              <a:t>Intelligent Methods, Systems, and Applications​ </a:t>
            </a:r>
          </a:p>
          <a:p>
            <a:r>
              <a:rPr lang="en-US" sz="2200" b="1" i="0" u="none" strike="noStrike" dirty="0">
                <a:solidFill>
                  <a:srgbClr val="006499"/>
                </a:solidFill>
                <a:effectLst/>
                <a:latin typeface="Noto Serif" panose="02020600060500020200" pitchFamily="18" charset="0"/>
              </a:rPr>
              <a:t>(IMSA-23)</a:t>
            </a:r>
          </a:p>
        </p:txBody>
      </p:sp>
      <p:pic>
        <p:nvPicPr>
          <p:cNvPr id="9" name="Picture 2" descr="IMSA Conference 15-16 July 2023 ">
            <a:extLst>
              <a:ext uri="{FF2B5EF4-FFF2-40B4-BE49-F238E27FC236}">
                <a16:creationId xmlns:a16="http://schemas.microsoft.com/office/drawing/2014/main" id="{65C6E0B8-565F-468D-A8F0-8679E3E153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6384" y="-1314"/>
            <a:ext cx="3810000" cy="10160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2">
            <a:extLst>
              <a:ext uri="{FF2B5EF4-FFF2-40B4-BE49-F238E27FC236}">
                <a16:creationId xmlns:a16="http://schemas.microsoft.com/office/drawing/2014/main" id="{F8698771-8BAF-E8CE-C07E-029DCDA869C3}"/>
              </a:ext>
            </a:extLst>
          </p:cNvPr>
          <p:cNvSpPr txBox="1">
            <a:spLocks noChangeArrowheads="1"/>
          </p:cNvSpPr>
          <p:nvPr/>
        </p:nvSpPr>
        <p:spPr bwMode="auto">
          <a:xfrm>
            <a:off x="939452" y="3620296"/>
            <a:ext cx="5464885" cy="828516"/>
          </a:xfrm>
          <a:prstGeom prst="rect">
            <a:avLst/>
          </a:prstGeom>
          <a:no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1" i="0" u="none" strike="noStrike" cap="none" normalizeH="0" baseline="0" dirty="0" err="1">
                <a:ln>
                  <a:noFill/>
                </a:ln>
                <a:effectLst/>
                <a:latin typeface="Arial" panose="020B0604020202020204" pitchFamily="34" charset="0"/>
                <a:ea typeface="Times New Roman" panose="02020603050405020304" pitchFamily="18" charset="0"/>
              </a:rPr>
              <a:t>Moamen</a:t>
            </a:r>
            <a:r>
              <a:rPr kumimoji="0" lang="en-US" sz="1500" b="1" i="0" u="none" strike="noStrike" cap="none" normalizeH="0" baseline="0" dirty="0">
                <a:ln>
                  <a:noFill/>
                </a:ln>
                <a:effectLst/>
                <a:latin typeface="Arial" panose="020B0604020202020204" pitchFamily="34" charset="0"/>
                <a:ea typeface="Times New Roman" panose="02020603050405020304" pitchFamily="18" charset="0"/>
              </a:rPr>
              <a:t> Zaher</a:t>
            </a:r>
            <a:endParaRPr kumimoji="0" lang="en-US" sz="1500" b="0" i="0" u="none" strike="noStrike" cap="none" normalizeH="0" baseline="0" dirty="0">
              <a:ln>
                <a:noFill/>
              </a:ln>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Faculty of Computer Science</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October University for Modern Sciences and Arts (MSA)</a:t>
            </a:r>
          </a:p>
        </p:txBody>
      </p:sp>
      <p:sp>
        <p:nvSpPr>
          <p:cNvPr id="14" name="Text Box 2">
            <a:extLst>
              <a:ext uri="{FF2B5EF4-FFF2-40B4-BE49-F238E27FC236}">
                <a16:creationId xmlns:a16="http://schemas.microsoft.com/office/drawing/2014/main" id="{2AAFB6FB-1356-70A9-DA95-76ED6603CA5A}"/>
              </a:ext>
            </a:extLst>
          </p:cNvPr>
          <p:cNvSpPr txBox="1">
            <a:spLocks noChangeArrowheads="1"/>
          </p:cNvSpPr>
          <p:nvPr/>
        </p:nvSpPr>
        <p:spPr bwMode="auto">
          <a:xfrm>
            <a:off x="6096000" y="3620296"/>
            <a:ext cx="5464885" cy="828516"/>
          </a:xfrm>
          <a:prstGeom prst="rect">
            <a:avLst/>
          </a:prstGeom>
          <a:noFill/>
          <a:ln>
            <a:noFill/>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1" i="0" u="none" strike="noStrike" cap="none" normalizeH="0" baseline="0" dirty="0">
                <a:ln>
                  <a:noFill/>
                </a:ln>
                <a:effectLst/>
                <a:latin typeface="Arial" panose="020B0604020202020204" pitchFamily="34" charset="0"/>
                <a:ea typeface="Times New Roman" panose="02020603050405020304" pitchFamily="18" charset="0"/>
              </a:rPr>
              <a:t>Ahmed Samir</a:t>
            </a:r>
            <a:endParaRPr kumimoji="0" lang="en-US" sz="1500" b="0" i="0" u="none" strike="noStrike" cap="none" normalizeH="0" baseline="0" dirty="0">
              <a:ln>
                <a:noFill/>
              </a:ln>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Faculty of Physical Therapy</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effectLst/>
                <a:latin typeface="Arial" panose="020B0604020202020204" pitchFamily="34" charset="0"/>
                <a:ea typeface="Times New Roman" panose="02020603050405020304" pitchFamily="18" charset="0"/>
              </a:rPr>
              <a:t>October University for Modern Sciences and Arts (MSA)</a:t>
            </a:r>
          </a:p>
        </p:txBody>
      </p:sp>
      <p:sp>
        <p:nvSpPr>
          <p:cNvPr id="16" name="TextBox 15">
            <a:extLst>
              <a:ext uri="{FF2B5EF4-FFF2-40B4-BE49-F238E27FC236}">
                <a16:creationId xmlns:a16="http://schemas.microsoft.com/office/drawing/2014/main" id="{BF2D0562-8878-A612-4309-7130952BA5F5}"/>
              </a:ext>
            </a:extLst>
          </p:cNvPr>
          <p:cNvSpPr txBox="1"/>
          <p:nvPr/>
        </p:nvSpPr>
        <p:spPr>
          <a:xfrm>
            <a:off x="9882144" y="6289546"/>
            <a:ext cx="2193016" cy="430887"/>
          </a:xfrm>
          <a:prstGeom prst="rect">
            <a:avLst/>
          </a:prstGeom>
          <a:noFill/>
        </p:spPr>
        <p:txBody>
          <a:bodyPr wrap="square" rtlCol="0">
            <a:spAutoFit/>
          </a:bodyPr>
          <a:lstStyle/>
          <a:p>
            <a:r>
              <a:rPr lang="en-US" sz="2200" b="1" i="0" u="none" strike="noStrike" dirty="0">
                <a:solidFill>
                  <a:srgbClr val="006499"/>
                </a:solidFill>
                <a:effectLst/>
                <a:latin typeface="Noto Serif" panose="02020600060500020200" pitchFamily="18" charset="0"/>
              </a:rPr>
              <a:t>Paper ID : 168</a:t>
            </a:r>
          </a:p>
        </p:txBody>
      </p:sp>
    </p:spTree>
    <p:extLst>
      <p:ext uri="{BB962C8B-B14F-4D97-AF65-F5344CB8AC3E}">
        <p14:creationId xmlns:p14="http://schemas.microsoft.com/office/powerpoint/2010/main" val="1880881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48C5E-112B-7D8E-A9B5-B03AE74781B4}"/>
              </a:ext>
            </a:extLst>
          </p:cNvPr>
          <p:cNvSpPr>
            <a:spLocks noGrp="1"/>
          </p:cNvSpPr>
          <p:nvPr>
            <p:ph type="title"/>
          </p:nvPr>
        </p:nvSpPr>
        <p:spPr/>
        <p:txBody>
          <a:bodyPr/>
          <a:lstStyle/>
          <a:p>
            <a:r>
              <a:rPr lang="en-EG" dirty="0">
                <a:solidFill>
                  <a:srgbClr val="006499"/>
                </a:solidFill>
              </a:rPr>
              <a:t>Outlines</a:t>
            </a:r>
          </a:p>
        </p:txBody>
      </p:sp>
      <p:sp>
        <p:nvSpPr>
          <p:cNvPr id="3" name="Content Placeholder 2">
            <a:extLst>
              <a:ext uri="{FF2B5EF4-FFF2-40B4-BE49-F238E27FC236}">
                <a16:creationId xmlns:a16="http://schemas.microsoft.com/office/drawing/2014/main" id="{643BEBC2-6CCF-2754-4496-4B8451F3E7D6}"/>
              </a:ext>
            </a:extLst>
          </p:cNvPr>
          <p:cNvSpPr>
            <a:spLocks noGrp="1"/>
          </p:cNvSpPr>
          <p:nvPr>
            <p:ph idx="1"/>
          </p:nvPr>
        </p:nvSpPr>
        <p:spPr/>
        <p:txBody>
          <a:bodyPr>
            <a:normAutofit lnSpcReduction="10000"/>
          </a:bodyPr>
          <a:lstStyle/>
          <a:p>
            <a:r>
              <a:rPr lang="en-EG" dirty="0">
                <a:hlinkClick r:id="rId3" action="ppaction://hlinksldjump"/>
              </a:rPr>
              <a:t>Introduction</a:t>
            </a:r>
            <a:endParaRPr lang="en-EG" dirty="0"/>
          </a:p>
          <a:p>
            <a:r>
              <a:rPr lang="en-EG" dirty="0">
                <a:hlinkClick r:id="rId4" action="ppaction://hlinksldjump"/>
              </a:rPr>
              <a:t>Motivation</a:t>
            </a:r>
            <a:endParaRPr lang="en-EG" dirty="0"/>
          </a:p>
          <a:p>
            <a:r>
              <a:rPr lang="en-EG" dirty="0">
                <a:hlinkClick r:id="rId5" action="ppaction://hlinksldjump"/>
              </a:rPr>
              <a:t>Problem Statement</a:t>
            </a:r>
            <a:endParaRPr lang="en-EG" dirty="0"/>
          </a:p>
          <a:p>
            <a:r>
              <a:rPr lang="en-EG" dirty="0">
                <a:hlinkClick r:id="rId6" action="ppaction://hlinksldjump"/>
              </a:rPr>
              <a:t>Related Work</a:t>
            </a:r>
            <a:endParaRPr lang="en-EG" dirty="0"/>
          </a:p>
          <a:p>
            <a:r>
              <a:rPr lang="en-EG" dirty="0">
                <a:hlinkClick r:id="rId7" action="ppaction://hlinksldjump"/>
              </a:rPr>
              <a:t>Proposed Framework</a:t>
            </a:r>
            <a:endParaRPr lang="en-EG" dirty="0"/>
          </a:p>
          <a:p>
            <a:r>
              <a:rPr lang="en-EG" dirty="0">
                <a:hlinkClick r:id="rId8" action="ppaction://hlinksldjump"/>
              </a:rPr>
              <a:t>Datasets</a:t>
            </a:r>
            <a:endParaRPr lang="en-EG" dirty="0"/>
          </a:p>
          <a:p>
            <a:r>
              <a:rPr lang="en-EG" dirty="0">
                <a:hlinkClick r:id="rId9" action="ppaction://hlinksldjump"/>
              </a:rPr>
              <a:t>Expierments</a:t>
            </a:r>
            <a:endParaRPr lang="en-EG" dirty="0"/>
          </a:p>
          <a:p>
            <a:r>
              <a:rPr lang="en-EG" dirty="0">
                <a:hlinkClick r:id="rId10" action="ppaction://hlinksldjump"/>
              </a:rPr>
              <a:t>Results</a:t>
            </a:r>
            <a:endParaRPr lang="en-EG" dirty="0"/>
          </a:p>
          <a:p>
            <a:r>
              <a:rPr lang="en-EG" dirty="0">
                <a:hlinkClick r:id="rId11" action="ppaction://hlinksldjump"/>
              </a:rPr>
              <a:t>Conclusion</a:t>
            </a:r>
            <a:endParaRPr lang="en-EG" dirty="0"/>
          </a:p>
          <a:p>
            <a:endParaRPr lang="en-EG" dirty="0"/>
          </a:p>
        </p:txBody>
      </p:sp>
    </p:spTree>
    <p:extLst>
      <p:ext uri="{BB962C8B-B14F-4D97-AF65-F5344CB8AC3E}">
        <p14:creationId xmlns:p14="http://schemas.microsoft.com/office/powerpoint/2010/main" val="3033460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0737-2AFD-7D77-36C6-15B28BA47619}"/>
              </a:ext>
            </a:extLst>
          </p:cNvPr>
          <p:cNvSpPr>
            <a:spLocks noGrp="1"/>
          </p:cNvSpPr>
          <p:nvPr>
            <p:ph type="title"/>
          </p:nvPr>
        </p:nvSpPr>
        <p:spPr/>
        <p:txBody>
          <a:bodyPr/>
          <a:lstStyle/>
          <a:p>
            <a:r>
              <a:rPr lang="en-EG" dirty="0">
                <a:solidFill>
                  <a:srgbClr val="006499"/>
                </a:solidFill>
              </a:rPr>
              <a:t>Introduction 1/2</a:t>
            </a:r>
          </a:p>
        </p:txBody>
      </p:sp>
      <p:sp>
        <p:nvSpPr>
          <p:cNvPr id="3" name="Content Placeholder 2">
            <a:extLst>
              <a:ext uri="{FF2B5EF4-FFF2-40B4-BE49-F238E27FC236}">
                <a16:creationId xmlns:a16="http://schemas.microsoft.com/office/drawing/2014/main" id="{923E9609-DEBC-7B1E-D5B0-359AE8215753}"/>
              </a:ext>
            </a:extLst>
          </p:cNvPr>
          <p:cNvSpPr>
            <a:spLocks noGrp="1"/>
          </p:cNvSpPr>
          <p:nvPr>
            <p:ph idx="1"/>
          </p:nvPr>
        </p:nvSpPr>
        <p:spPr>
          <a:xfrm>
            <a:off x="5108462" y="1690688"/>
            <a:ext cx="6800556" cy="4351338"/>
          </a:xfrm>
        </p:spPr>
        <p:txBody>
          <a:bodyPr>
            <a:normAutofit/>
          </a:bodyPr>
          <a:lstStyle/>
          <a:p>
            <a:r>
              <a:rPr lang="en-US" sz="2400" b="0" i="0" u="none" strike="noStrike" dirty="0">
                <a:effectLst/>
                <a:latin typeface="Arial" panose="020B0604020202020204" pitchFamily="34" charset="0"/>
              </a:rPr>
              <a:t>Rehabilitation :</a:t>
            </a:r>
          </a:p>
          <a:p>
            <a:pPr lvl="1"/>
            <a:r>
              <a:rPr lang="en-US" b="1" i="1" dirty="0"/>
              <a:t>a set of interventions designed to optimize functioning and reduce disability in individuals with health conditions in interaction with their environment”</a:t>
            </a:r>
            <a:endParaRPr lang="en-US" sz="2000" b="0" i="0" u="none" strike="noStrike" dirty="0">
              <a:effectLst/>
              <a:latin typeface="Arial" panose="020B0604020202020204" pitchFamily="34" charset="0"/>
            </a:endParaRPr>
          </a:p>
          <a:p>
            <a:r>
              <a:rPr lang="en-US" sz="2400" b="0" i="0" u="none" strike="noStrike" dirty="0">
                <a:effectLst/>
                <a:latin typeface="Arial" panose="020B0604020202020204" pitchFamily="34" charset="0"/>
              </a:rPr>
              <a:t>Rehabilitation -&gt; shortening hospital stays</a:t>
            </a:r>
          </a:p>
          <a:p>
            <a:endParaRPr lang="en-US" sz="2400" b="0" i="0" u="none" strike="noStrike" dirty="0">
              <a:effectLst/>
              <a:latin typeface="Arial" panose="020B0604020202020204" pitchFamily="34" charset="0"/>
            </a:endParaRPr>
          </a:p>
          <a:p>
            <a:r>
              <a:rPr lang="en-US" sz="2400" b="0" i="0" u="none" strike="noStrike" dirty="0">
                <a:effectLst/>
                <a:latin typeface="Arial" panose="020B0604020202020204" pitchFamily="34" charset="0"/>
              </a:rPr>
              <a:t>Rehabilitation is a long-term recovery</a:t>
            </a:r>
            <a:r>
              <a:rPr lang="en-US" sz="2400" dirty="0">
                <a:latin typeface="Arial" panose="020B0604020202020204" pitchFamily="34" charset="0"/>
              </a:rPr>
              <a:t> .</a:t>
            </a:r>
          </a:p>
        </p:txBody>
      </p:sp>
      <p:pic>
        <p:nvPicPr>
          <p:cNvPr id="3074" name="Picture 2" descr="Health Benefits of Physiotherapy | Miskawaan Health">
            <a:extLst>
              <a:ext uri="{FF2B5EF4-FFF2-40B4-BE49-F238E27FC236}">
                <a16:creationId xmlns:a16="http://schemas.microsoft.com/office/drawing/2014/main" id="{5AD9836D-FAC2-D3DD-575D-AF6E4DF57F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982" y="1582444"/>
            <a:ext cx="4332849" cy="47811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CC98FEF-9F22-FCB6-A719-F406F7ED5430}"/>
              </a:ext>
            </a:extLst>
          </p:cNvPr>
          <p:cNvSpPr txBox="1"/>
          <p:nvPr/>
        </p:nvSpPr>
        <p:spPr>
          <a:xfrm>
            <a:off x="89788" y="6550223"/>
            <a:ext cx="5078634" cy="307777"/>
          </a:xfrm>
          <a:prstGeom prst="rect">
            <a:avLst/>
          </a:prstGeom>
          <a:noFill/>
        </p:spPr>
        <p:txBody>
          <a:bodyPr wrap="none" rtlCol="0">
            <a:spAutoFit/>
          </a:bodyPr>
          <a:lstStyle/>
          <a:p>
            <a:pPr algn="r" rtl="1"/>
            <a:r>
              <a:rPr lang="en-US" sz="1400" dirty="0">
                <a:solidFill>
                  <a:schemeClr val="bg2">
                    <a:lumMod val="50000"/>
                  </a:schemeClr>
                </a:solidFill>
                <a:hlinkClick r:id="rId4"/>
              </a:rPr>
              <a:t>WHO (World health Organization / Health Topics / Rehabilitation</a:t>
            </a:r>
            <a:r>
              <a:rPr lang="en-US" sz="1400" baseline="30000" dirty="0">
                <a:solidFill>
                  <a:schemeClr val="bg2">
                    <a:lumMod val="50000"/>
                  </a:schemeClr>
                </a:solidFill>
              </a:rPr>
              <a:t>[1]</a:t>
            </a:r>
          </a:p>
        </p:txBody>
      </p:sp>
      <p:pic>
        <p:nvPicPr>
          <p:cNvPr id="5" name="Picture 2">
            <a:extLst>
              <a:ext uri="{FF2B5EF4-FFF2-40B4-BE49-F238E27FC236}">
                <a16:creationId xmlns:a16="http://schemas.microsoft.com/office/drawing/2014/main" id="{3D1E1B7E-A592-CC0E-ABA5-46B769ED37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36587" y="230188"/>
            <a:ext cx="3306885" cy="1205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30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0737-2AFD-7D77-36C6-15B28BA47619}"/>
              </a:ext>
            </a:extLst>
          </p:cNvPr>
          <p:cNvSpPr>
            <a:spLocks noGrp="1"/>
          </p:cNvSpPr>
          <p:nvPr>
            <p:ph type="title"/>
          </p:nvPr>
        </p:nvSpPr>
        <p:spPr/>
        <p:txBody>
          <a:bodyPr/>
          <a:lstStyle/>
          <a:p>
            <a:r>
              <a:rPr lang="en-EG" dirty="0">
                <a:solidFill>
                  <a:srgbClr val="006499"/>
                </a:solidFill>
              </a:rPr>
              <a:t>Introduction 2/2</a:t>
            </a:r>
          </a:p>
        </p:txBody>
      </p:sp>
      <p:sp>
        <p:nvSpPr>
          <p:cNvPr id="3" name="Content Placeholder 2">
            <a:extLst>
              <a:ext uri="{FF2B5EF4-FFF2-40B4-BE49-F238E27FC236}">
                <a16:creationId xmlns:a16="http://schemas.microsoft.com/office/drawing/2014/main" id="{923E9609-DEBC-7B1E-D5B0-359AE8215753}"/>
              </a:ext>
            </a:extLst>
          </p:cNvPr>
          <p:cNvSpPr>
            <a:spLocks noGrp="1"/>
          </p:cNvSpPr>
          <p:nvPr>
            <p:ph sz="half" idx="1"/>
          </p:nvPr>
        </p:nvSpPr>
        <p:spPr>
          <a:xfrm>
            <a:off x="407963" y="1825625"/>
            <a:ext cx="6602437" cy="4351338"/>
          </a:xfrm>
        </p:spPr>
        <p:txBody>
          <a:bodyPr>
            <a:normAutofit/>
          </a:bodyPr>
          <a:lstStyle/>
          <a:p>
            <a:r>
              <a:rPr lang="en-US" sz="2400" dirty="0"/>
              <a:t>Rehabilitation  is a long process so we need keep track of the progress .</a:t>
            </a:r>
          </a:p>
          <a:p>
            <a:r>
              <a:rPr lang="en-US" sz="2400" dirty="0"/>
              <a:t>Different skeleton parts , angles and trajectories for different exercises .</a:t>
            </a:r>
          </a:p>
          <a:p>
            <a:r>
              <a:rPr lang="en-US" sz="2400" dirty="0">
                <a:latin typeface="Arial" panose="020B0604020202020204" pitchFamily="34" charset="0"/>
              </a:rPr>
              <a:t>Cut-Down Cost of rehabilitation .</a:t>
            </a:r>
          </a:p>
          <a:p>
            <a:r>
              <a:rPr lang="en-US" sz="2400" dirty="0">
                <a:latin typeface="Arial" panose="020B0604020202020204" pitchFamily="34" charset="0"/>
              </a:rPr>
              <a:t>Allow Patients to practice exercises at home without the need to go the physio clinics .</a:t>
            </a:r>
          </a:p>
          <a:p>
            <a:r>
              <a:rPr lang="en-US" sz="2400" dirty="0">
                <a:latin typeface="Arial" panose="020B0604020202020204" pitchFamily="34" charset="0"/>
              </a:rPr>
              <a:t>Real-Time feedback for the patient whether he’s done the exercise correctly or not . </a:t>
            </a:r>
          </a:p>
          <a:p>
            <a:r>
              <a:rPr lang="en-US" sz="2400" dirty="0">
                <a:latin typeface="Arial" panose="020B0604020202020204" pitchFamily="34" charset="0"/>
              </a:rPr>
              <a:t>Allow Doctors to monitor patients progress . </a:t>
            </a:r>
          </a:p>
        </p:txBody>
      </p:sp>
      <p:pic>
        <p:nvPicPr>
          <p:cNvPr id="2050" name="Picture 2" descr="Medical rehabilitation physical therapy Royalty Free Vector">
            <a:extLst>
              <a:ext uri="{FF2B5EF4-FFF2-40B4-BE49-F238E27FC236}">
                <a16:creationId xmlns:a16="http://schemas.microsoft.com/office/drawing/2014/main" id="{5BB72990-697B-6085-E0B6-D67A4A841E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102"/>
          <a:stretch/>
        </p:blipFill>
        <p:spPr bwMode="auto">
          <a:xfrm>
            <a:off x="7010400" y="1690688"/>
            <a:ext cx="5181600" cy="441705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193232-3F1A-8F59-1BDA-B6574A95AC4F}"/>
              </a:ext>
            </a:extLst>
          </p:cNvPr>
          <p:cNvSpPr txBox="1"/>
          <p:nvPr/>
        </p:nvSpPr>
        <p:spPr>
          <a:xfrm>
            <a:off x="282982" y="6550223"/>
            <a:ext cx="4885440" cy="307777"/>
          </a:xfrm>
          <a:prstGeom prst="rect">
            <a:avLst/>
          </a:prstGeom>
          <a:noFill/>
        </p:spPr>
        <p:txBody>
          <a:bodyPr wrap="none" rtlCol="0">
            <a:spAutoFit/>
          </a:bodyPr>
          <a:lstStyle/>
          <a:p>
            <a:pPr algn="r" rtl="1"/>
            <a:r>
              <a:rPr lang="en-US" sz="1400" dirty="0">
                <a:solidFill>
                  <a:schemeClr val="bg2">
                    <a:lumMod val="50000"/>
                  </a:schemeClr>
                </a:solidFill>
                <a:hlinkClick r:id="rId4"/>
              </a:rPr>
              <a:t>WHO (World health Organization / Health Topics / Rehabilitation</a:t>
            </a:r>
            <a:endParaRPr lang="en-US" sz="1400" dirty="0">
              <a:solidFill>
                <a:schemeClr val="bg2">
                  <a:lumMod val="50000"/>
                </a:schemeClr>
              </a:solidFill>
            </a:endParaRPr>
          </a:p>
        </p:txBody>
      </p:sp>
    </p:spTree>
    <p:extLst>
      <p:ext uri="{BB962C8B-B14F-4D97-AF65-F5344CB8AC3E}">
        <p14:creationId xmlns:p14="http://schemas.microsoft.com/office/powerpoint/2010/main" val="956272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C604A-8457-F906-524B-DEE21E03B7A7}"/>
              </a:ext>
            </a:extLst>
          </p:cNvPr>
          <p:cNvSpPr>
            <a:spLocks noGrp="1"/>
          </p:cNvSpPr>
          <p:nvPr>
            <p:ph type="title"/>
          </p:nvPr>
        </p:nvSpPr>
        <p:spPr/>
        <p:txBody>
          <a:bodyPr/>
          <a:lstStyle/>
          <a:p>
            <a:r>
              <a:rPr lang="en-EG" dirty="0">
                <a:solidFill>
                  <a:srgbClr val="006499"/>
                </a:solidFill>
              </a:rPr>
              <a:t>Motivation</a:t>
            </a:r>
          </a:p>
        </p:txBody>
      </p:sp>
      <p:sp>
        <p:nvSpPr>
          <p:cNvPr id="3" name="Content Placeholder 2">
            <a:extLst>
              <a:ext uri="{FF2B5EF4-FFF2-40B4-BE49-F238E27FC236}">
                <a16:creationId xmlns:a16="http://schemas.microsoft.com/office/drawing/2014/main" id="{8C38D715-C71F-560A-C35D-8CE46B04F4F6}"/>
              </a:ext>
            </a:extLst>
          </p:cNvPr>
          <p:cNvSpPr>
            <a:spLocks noGrp="1"/>
          </p:cNvSpPr>
          <p:nvPr>
            <p:ph idx="1"/>
          </p:nvPr>
        </p:nvSpPr>
        <p:spPr>
          <a:xfrm>
            <a:off x="838200" y="1825625"/>
            <a:ext cx="6111240" cy="4351338"/>
          </a:xfrm>
        </p:spPr>
        <p:txBody>
          <a:bodyPr>
            <a:normAutofit fontScale="77500" lnSpcReduction="20000"/>
          </a:bodyPr>
          <a:lstStyle/>
          <a:p>
            <a:pPr algn="l">
              <a:buFont typeface="Arial" panose="020B0604020202020204" pitchFamily="34" charset="0"/>
              <a:buChar char="•"/>
            </a:pPr>
            <a:r>
              <a:rPr lang="en-US" i="0" u="none" strike="noStrike" dirty="0">
                <a:effectLst/>
                <a:latin typeface="Arial" panose="020B0604020202020204" pitchFamily="34" charset="0"/>
              </a:rPr>
              <a:t>Globally, an estimated </a:t>
            </a:r>
            <a:r>
              <a:rPr lang="en-US" b="1" i="0" u="none" strike="noStrike" dirty="0">
                <a:solidFill>
                  <a:srgbClr val="FF0000"/>
                </a:solidFill>
                <a:effectLst/>
                <a:latin typeface="Arial" panose="020B0604020202020204" pitchFamily="34" charset="0"/>
              </a:rPr>
              <a:t>2.4 billion</a:t>
            </a:r>
            <a:r>
              <a:rPr lang="en-US" i="0" u="none" strike="noStrike" dirty="0">
                <a:solidFill>
                  <a:srgbClr val="FF0000"/>
                </a:solidFill>
                <a:effectLst/>
                <a:latin typeface="Arial" panose="020B0604020202020204" pitchFamily="34" charset="0"/>
              </a:rPr>
              <a:t> </a:t>
            </a:r>
            <a:r>
              <a:rPr lang="en-US" i="0" u="none" strike="noStrike" dirty="0">
                <a:effectLst/>
                <a:latin typeface="Arial" panose="020B0604020202020204" pitchFamily="34" charset="0"/>
              </a:rPr>
              <a:t>people are currently living with a health condition that benefits from rehabilitation.</a:t>
            </a:r>
          </a:p>
          <a:p>
            <a:r>
              <a:rPr lang="en-US" sz="2800" b="0" i="0" u="none" strike="noStrike" dirty="0">
                <a:effectLst/>
                <a:latin typeface="Arial" panose="020B0604020202020204" pitchFamily="34" charset="0"/>
              </a:rPr>
              <a:t>more than </a:t>
            </a:r>
            <a:r>
              <a:rPr lang="en-US" sz="2800" b="1" i="0" u="none" strike="noStrike" dirty="0">
                <a:solidFill>
                  <a:srgbClr val="FF0000"/>
                </a:solidFill>
                <a:effectLst/>
                <a:latin typeface="Arial" panose="020B0604020202020204" pitchFamily="34" charset="0"/>
              </a:rPr>
              <a:t>50% of people </a:t>
            </a:r>
            <a:r>
              <a:rPr lang="en-US" sz="2800" b="0" i="0" u="none" strike="noStrike" dirty="0">
                <a:effectLst/>
                <a:latin typeface="Arial" panose="020B0604020202020204" pitchFamily="34" charset="0"/>
              </a:rPr>
              <a:t>do not receive the rehabilitation services they require.</a:t>
            </a:r>
          </a:p>
          <a:p>
            <a:r>
              <a:rPr lang="en-US" sz="2800" b="0" i="0" u="none" strike="noStrike" dirty="0">
                <a:effectLst/>
                <a:latin typeface="Arial" panose="020B0604020202020204" pitchFamily="34" charset="0"/>
              </a:rPr>
              <a:t>Rehabilitation services are often under funded and under valued, particularly in countries without strong health systems.</a:t>
            </a:r>
          </a:p>
          <a:p>
            <a:pPr algn="l"/>
            <a:r>
              <a:rPr lang="en-US" sz="2800" b="1" i="0" u="none" strike="noStrike" dirty="0">
                <a:solidFill>
                  <a:srgbClr val="FF0000"/>
                </a:solidFill>
                <a:effectLst/>
                <a:latin typeface="Arial" panose="020B0604020202020204" pitchFamily="34" charset="0"/>
              </a:rPr>
              <a:t>&lt;10 per 1 million </a:t>
            </a:r>
            <a:r>
              <a:rPr lang="en-US" sz="2800" b="0" i="0" u="none" strike="noStrike" dirty="0">
                <a:effectLst/>
                <a:latin typeface="Arial" panose="020B0604020202020204" pitchFamily="34" charset="0"/>
              </a:rPr>
              <a:t>The number of skilled rehabilitation practitioners in low- and middle-income countries</a:t>
            </a:r>
          </a:p>
          <a:p>
            <a:pPr algn="l"/>
            <a:r>
              <a:rPr lang="en-US" b="0" i="0" u="none" strike="noStrike" dirty="0">
                <a:effectLst/>
                <a:latin typeface="Arial" panose="020B0604020202020204" pitchFamily="34" charset="0"/>
              </a:rPr>
              <a:t>the number of people over 60 years of age predicted to double by 2050, and more people are living with chronic diseases.</a:t>
            </a:r>
            <a:endParaRPr lang="en-US" sz="2800" b="0" i="0" u="none" strike="noStrike" dirty="0">
              <a:effectLst/>
              <a:latin typeface="Arial" panose="020B0604020202020204" pitchFamily="34" charset="0"/>
            </a:endParaRPr>
          </a:p>
        </p:txBody>
      </p:sp>
      <p:sp>
        <p:nvSpPr>
          <p:cNvPr id="4" name="TextBox 3">
            <a:extLst>
              <a:ext uri="{FF2B5EF4-FFF2-40B4-BE49-F238E27FC236}">
                <a16:creationId xmlns:a16="http://schemas.microsoft.com/office/drawing/2014/main" id="{BFF87633-9FBE-8B1A-8CAF-06F539062DA6}"/>
              </a:ext>
            </a:extLst>
          </p:cNvPr>
          <p:cNvSpPr txBox="1"/>
          <p:nvPr/>
        </p:nvSpPr>
        <p:spPr>
          <a:xfrm>
            <a:off x="282982" y="6550223"/>
            <a:ext cx="4885440" cy="307777"/>
          </a:xfrm>
          <a:prstGeom prst="rect">
            <a:avLst/>
          </a:prstGeom>
          <a:noFill/>
        </p:spPr>
        <p:txBody>
          <a:bodyPr wrap="none" rtlCol="0">
            <a:spAutoFit/>
          </a:bodyPr>
          <a:lstStyle/>
          <a:p>
            <a:pPr algn="r" rtl="1"/>
            <a:r>
              <a:rPr lang="en-US" sz="1400" dirty="0">
                <a:solidFill>
                  <a:schemeClr val="bg2">
                    <a:lumMod val="50000"/>
                  </a:schemeClr>
                </a:solidFill>
                <a:hlinkClick r:id="rId3"/>
              </a:rPr>
              <a:t>WHO (World health Organization / Health Topics / Rehabilitation</a:t>
            </a:r>
            <a:endParaRPr lang="en-US" sz="1400" dirty="0">
              <a:solidFill>
                <a:schemeClr val="bg2">
                  <a:lumMod val="50000"/>
                </a:schemeClr>
              </a:solidFill>
            </a:endParaRPr>
          </a:p>
        </p:txBody>
      </p:sp>
      <p:grpSp>
        <p:nvGrpSpPr>
          <p:cNvPr id="7" name="Group 6">
            <a:extLst>
              <a:ext uri="{FF2B5EF4-FFF2-40B4-BE49-F238E27FC236}">
                <a16:creationId xmlns:a16="http://schemas.microsoft.com/office/drawing/2014/main" id="{E112EFF1-878A-9F9C-4472-A075EDBCC0DC}"/>
              </a:ext>
            </a:extLst>
          </p:cNvPr>
          <p:cNvGrpSpPr/>
          <p:nvPr/>
        </p:nvGrpSpPr>
        <p:grpSpPr>
          <a:xfrm>
            <a:off x="600221" y="1457855"/>
            <a:ext cx="11353800" cy="4880686"/>
            <a:chOff x="838200" y="1515648"/>
            <a:chExt cx="11353800" cy="4880686"/>
          </a:xfrm>
        </p:grpSpPr>
        <p:pic>
          <p:nvPicPr>
            <p:cNvPr id="4098" name="Picture 2" descr="Figure thumbnail gr4">
              <a:extLst>
                <a:ext uri="{FF2B5EF4-FFF2-40B4-BE49-F238E27FC236}">
                  <a16:creationId xmlns:a16="http://schemas.microsoft.com/office/drawing/2014/main" id="{24EBBA99-75DB-F9AA-FDF3-E0DD8C518A3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5337"/>
            <a:stretch/>
          </p:blipFill>
          <p:spPr bwMode="auto">
            <a:xfrm>
              <a:off x="838200" y="1515648"/>
              <a:ext cx="10866120" cy="415363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33551D4-B813-A58F-E129-1D3BD423F513}"/>
                </a:ext>
              </a:extLst>
            </p:cNvPr>
            <p:cNvSpPr txBox="1"/>
            <p:nvPr/>
          </p:nvSpPr>
          <p:spPr>
            <a:xfrm>
              <a:off x="838200" y="6057780"/>
              <a:ext cx="11353800" cy="338554"/>
            </a:xfrm>
            <a:prstGeom prst="rect">
              <a:avLst/>
            </a:prstGeom>
            <a:noFill/>
          </p:spPr>
          <p:txBody>
            <a:bodyPr wrap="square" rtlCol="0">
              <a:spAutoFit/>
            </a:bodyPr>
            <a:lstStyle/>
            <a:p>
              <a:r>
                <a:rPr lang="en-US" sz="1600" b="1" i="0" u="none" strike="noStrike" dirty="0">
                  <a:solidFill>
                    <a:srgbClr val="505050"/>
                  </a:solidFill>
                  <a:effectLst/>
                  <a:latin typeface="Source Sans Pro" panose="020B0503030403020204" pitchFamily="34" charset="0"/>
                </a:rPr>
                <a:t>Map of leading health conditions requiring rehabilitation in each country, 2019</a:t>
              </a:r>
              <a:endParaRPr lang="en-EG" sz="1600" dirty="0"/>
            </a:p>
          </p:txBody>
        </p:sp>
      </p:grpSp>
      <p:grpSp>
        <p:nvGrpSpPr>
          <p:cNvPr id="14" name="Group 13">
            <a:extLst>
              <a:ext uri="{FF2B5EF4-FFF2-40B4-BE49-F238E27FC236}">
                <a16:creationId xmlns:a16="http://schemas.microsoft.com/office/drawing/2014/main" id="{08F1FABF-12F6-8141-44ED-5783780A2F62}"/>
              </a:ext>
            </a:extLst>
          </p:cNvPr>
          <p:cNvGrpSpPr/>
          <p:nvPr/>
        </p:nvGrpSpPr>
        <p:grpSpPr>
          <a:xfrm>
            <a:off x="6949439" y="1635307"/>
            <a:ext cx="4794739" cy="5300065"/>
            <a:chOff x="6949439" y="1635307"/>
            <a:chExt cx="4794739" cy="5300065"/>
          </a:xfrm>
        </p:grpSpPr>
        <p:pic>
          <p:nvPicPr>
            <p:cNvPr id="12" name="Picture 2" descr="Figure thumbnail gr4">
              <a:extLst>
                <a:ext uri="{FF2B5EF4-FFF2-40B4-BE49-F238E27FC236}">
                  <a16:creationId xmlns:a16="http://schemas.microsoft.com/office/drawing/2014/main" id="{380C2B41-32D9-D9FE-36D3-2DC16D1217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5337"/>
            <a:stretch/>
          </p:blipFill>
          <p:spPr bwMode="auto">
            <a:xfrm>
              <a:off x="6949439" y="1635307"/>
              <a:ext cx="4794739" cy="415363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9D11586-2559-01DB-52B5-A11D1DF48B3C}"/>
                </a:ext>
              </a:extLst>
            </p:cNvPr>
            <p:cNvSpPr txBox="1"/>
            <p:nvPr/>
          </p:nvSpPr>
          <p:spPr>
            <a:xfrm>
              <a:off x="6949439" y="6196708"/>
              <a:ext cx="4642340" cy="738664"/>
            </a:xfrm>
            <a:prstGeom prst="rect">
              <a:avLst/>
            </a:prstGeom>
            <a:noFill/>
          </p:spPr>
          <p:txBody>
            <a:bodyPr wrap="square" rtlCol="0">
              <a:spAutoFit/>
            </a:bodyPr>
            <a:lstStyle/>
            <a:p>
              <a:r>
                <a:rPr lang="en-US" sz="1400" b="1" i="0" u="none" strike="noStrike" dirty="0">
                  <a:solidFill>
                    <a:srgbClr val="505050"/>
                  </a:solidFill>
                  <a:effectLst/>
                  <a:latin typeface="Source Sans Pro" panose="020B0503030403020204" pitchFamily="34" charset="0"/>
                </a:rPr>
                <a:t>Map of leading health conditions requiring rehabilitation in each country, 2019</a:t>
              </a:r>
              <a:endParaRPr lang="en-EG" sz="1400" dirty="0"/>
            </a:p>
            <a:p>
              <a:endParaRPr lang="en-EG" sz="1400" dirty="0"/>
            </a:p>
          </p:txBody>
        </p:sp>
      </p:grpSp>
    </p:spTree>
    <p:extLst>
      <p:ext uri="{BB962C8B-B14F-4D97-AF65-F5344CB8AC3E}">
        <p14:creationId xmlns:p14="http://schemas.microsoft.com/office/powerpoint/2010/main" val="2704011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C604A-8457-F906-524B-DEE21E03B7A7}"/>
              </a:ext>
            </a:extLst>
          </p:cNvPr>
          <p:cNvSpPr>
            <a:spLocks noGrp="1"/>
          </p:cNvSpPr>
          <p:nvPr>
            <p:ph type="title"/>
          </p:nvPr>
        </p:nvSpPr>
        <p:spPr/>
        <p:txBody>
          <a:bodyPr/>
          <a:lstStyle/>
          <a:p>
            <a:r>
              <a:rPr lang="en-EG" dirty="0">
                <a:solidFill>
                  <a:srgbClr val="006499"/>
                </a:solidFill>
              </a:rPr>
              <a:t>Problem Statement</a:t>
            </a:r>
          </a:p>
        </p:txBody>
      </p:sp>
      <p:sp>
        <p:nvSpPr>
          <p:cNvPr id="3" name="Content Placeholder 2">
            <a:extLst>
              <a:ext uri="{FF2B5EF4-FFF2-40B4-BE49-F238E27FC236}">
                <a16:creationId xmlns:a16="http://schemas.microsoft.com/office/drawing/2014/main" id="{8C38D715-C71F-560A-C35D-8CE46B04F4F6}"/>
              </a:ext>
            </a:extLst>
          </p:cNvPr>
          <p:cNvSpPr>
            <a:spLocks noGrp="1"/>
          </p:cNvSpPr>
          <p:nvPr>
            <p:ph idx="1"/>
          </p:nvPr>
        </p:nvSpPr>
        <p:spPr/>
        <p:txBody>
          <a:bodyPr>
            <a:normAutofit fontScale="85000" lnSpcReduction="20000"/>
          </a:bodyPr>
          <a:lstStyle/>
          <a:p>
            <a:pPr algn="just">
              <a:buFont typeface="Arial" panose="020B0604020202020204" pitchFamily="34" charset="0"/>
              <a:buChar char="•"/>
            </a:pPr>
            <a:r>
              <a:rPr lang="en-US" b="0" i="0" u="none" strike="noStrike" dirty="0">
                <a:effectLst/>
                <a:latin typeface="Arial" panose="020B0604020202020204" pitchFamily="34" charset="0"/>
              </a:rPr>
              <a:t>Lack of prioritization, funding, policies and plans for rehabilitation at a national level.</a:t>
            </a:r>
          </a:p>
          <a:p>
            <a:pPr algn="just">
              <a:buFont typeface="Arial" panose="020B0604020202020204" pitchFamily="34" charset="0"/>
              <a:buChar char="•"/>
            </a:pPr>
            <a:r>
              <a:rPr lang="en-US" b="0" i="0" u="none" strike="noStrike" dirty="0">
                <a:effectLst/>
                <a:latin typeface="Arial" panose="020B0604020202020204" pitchFamily="34" charset="0"/>
              </a:rPr>
              <a:t>Lack of available rehabilitation services outside urban areas, and long waiting times.</a:t>
            </a:r>
          </a:p>
          <a:p>
            <a:pPr algn="just">
              <a:buFont typeface="Arial" panose="020B0604020202020204" pitchFamily="34" charset="0"/>
              <a:buChar char="•"/>
            </a:pPr>
            <a:r>
              <a:rPr lang="en-US" b="0" i="0" u="none" strike="noStrike" dirty="0">
                <a:effectLst/>
                <a:latin typeface="Arial" panose="020B0604020202020204" pitchFamily="34" charset="0"/>
              </a:rPr>
              <a:t>High out-of-pocket expenses and non-existent or inadequate means of funding.</a:t>
            </a:r>
          </a:p>
          <a:p>
            <a:pPr algn="just">
              <a:buFont typeface="Arial" panose="020B0604020202020204" pitchFamily="34" charset="0"/>
              <a:buChar char="•"/>
            </a:pPr>
            <a:r>
              <a:rPr lang="en-US" b="0" i="0" u="none" strike="noStrike" dirty="0">
                <a:effectLst/>
                <a:latin typeface="Arial" panose="020B0604020202020204" pitchFamily="34" charset="0"/>
              </a:rPr>
              <a:t>Lack of trained rehabilitation professionals, with less than 10 skilled practitioners per 1 million population in many low- and middle-income settings.</a:t>
            </a:r>
          </a:p>
          <a:p>
            <a:pPr algn="just">
              <a:buFont typeface="Arial" panose="020B0604020202020204" pitchFamily="34" charset="0"/>
              <a:buChar char="•"/>
            </a:pPr>
            <a:r>
              <a:rPr lang="en-US" b="0" i="0" u="none" strike="noStrike" dirty="0">
                <a:effectLst/>
                <a:latin typeface="Arial" panose="020B0604020202020204" pitchFamily="34" charset="0"/>
              </a:rPr>
              <a:t>Lack of resources, including assistive technology, equipment and consumables.</a:t>
            </a:r>
          </a:p>
          <a:p>
            <a:pPr algn="just">
              <a:buFont typeface="Arial" panose="020B0604020202020204" pitchFamily="34" charset="0"/>
              <a:buChar char="•"/>
            </a:pPr>
            <a:r>
              <a:rPr lang="en-US" b="0" i="0" u="none" strike="noStrike" dirty="0">
                <a:effectLst/>
                <a:latin typeface="Arial" panose="020B0604020202020204" pitchFamily="34" charset="0"/>
              </a:rPr>
              <a:t>The need for more research and data on rehabilitation.</a:t>
            </a:r>
          </a:p>
          <a:p>
            <a:pPr algn="just">
              <a:buFont typeface="Arial" panose="020B0604020202020204" pitchFamily="34" charset="0"/>
              <a:buChar char="•"/>
            </a:pPr>
            <a:r>
              <a:rPr lang="en-US" b="0" i="0" u="none" strike="noStrike" dirty="0">
                <a:effectLst/>
                <a:latin typeface="Arial" panose="020B0604020202020204" pitchFamily="34" charset="0"/>
              </a:rPr>
              <a:t>Ineffective and under-utilized referral pathways to rehabilitation.</a:t>
            </a:r>
          </a:p>
          <a:p>
            <a:pPr algn="just"/>
            <a:endParaRPr lang="en-US" b="0" i="0" u="none" strike="noStrike" dirty="0">
              <a:effectLst/>
              <a:latin typeface="Arial" panose="020B0604020202020204" pitchFamily="34" charset="0"/>
            </a:endParaRPr>
          </a:p>
        </p:txBody>
      </p:sp>
      <p:sp>
        <p:nvSpPr>
          <p:cNvPr id="6" name="TextBox 5">
            <a:extLst>
              <a:ext uri="{FF2B5EF4-FFF2-40B4-BE49-F238E27FC236}">
                <a16:creationId xmlns:a16="http://schemas.microsoft.com/office/drawing/2014/main" id="{DD345DFC-0D81-B1F9-2044-3CF8D2756A27}"/>
              </a:ext>
            </a:extLst>
          </p:cNvPr>
          <p:cNvSpPr txBox="1"/>
          <p:nvPr/>
        </p:nvSpPr>
        <p:spPr>
          <a:xfrm>
            <a:off x="838200" y="6492875"/>
            <a:ext cx="5238742" cy="307777"/>
          </a:xfrm>
          <a:prstGeom prst="rect">
            <a:avLst/>
          </a:prstGeom>
          <a:noFill/>
        </p:spPr>
        <p:txBody>
          <a:bodyPr wrap="none" rtlCol="0">
            <a:spAutoFit/>
          </a:bodyPr>
          <a:lstStyle/>
          <a:p>
            <a:pPr algn="r" rtl="1"/>
            <a:r>
              <a:rPr lang="en-US" sz="1400" dirty="0">
                <a:solidFill>
                  <a:schemeClr val="bg2">
                    <a:lumMod val="50000"/>
                  </a:schemeClr>
                </a:solidFill>
                <a:hlinkClick r:id="rId3"/>
              </a:rPr>
              <a:t> WHO (World health Organization / Rehabilitation</a:t>
            </a:r>
            <a:r>
              <a:rPr lang="en-US" sz="1400" dirty="0">
                <a:solidFill>
                  <a:schemeClr val="bg2">
                    <a:lumMod val="50000"/>
                  </a:schemeClr>
                </a:solidFill>
              </a:rPr>
              <a:t> 10 November 2021</a:t>
            </a:r>
          </a:p>
        </p:txBody>
      </p:sp>
      <p:pic>
        <p:nvPicPr>
          <p:cNvPr id="5122" name="Picture 2">
            <a:extLst>
              <a:ext uri="{FF2B5EF4-FFF2-40B4-BE49-F238E27FC236}">
                <a16:creationId xmlns:a16="http://schemas.microsoft.com/office/drawing/2014/main" id="{15073324-CEA9-69BF-77C3-081D5743E9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6587" y="230188"/>
            <a:ext cx="3306885" cy="1205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3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3">
                                            <p:txEl>
                                              <p:pRg st="2" end="2"/>
                                            </p:txEl>
                                          </p:spTgt>
                                        </p:tgtEl>
                                        <p:attrNameLst>
                                          <p:attrName>style.color</p:attrName>
                                        </p:attrNameLst>
                                      </p:cBhvr>
                                      <p:to>
                                        <p:clrVal>
                                          <a:schemeClr val="accent2"/>
                                        </p:clrVal>
                                      </p:to>
                                    </p:set>
                                    <p:set>
                                      <p:cBhvr>
                                        <p:cTn id="13" dur="500" fill="hold"/>
                                        <p:tgtEl>
                                          <p:spTgt spid="3">
                                            <p:txEl>
                                              <p:pRg st="2" end="2"/>
                                            </p:txEl>
                                          </p:spTgt>
                                        </p:tgtEl>
                                        <p:attrNameLst>
                                          <p:attrName>fillcolor</p:attrName>
                                        </p:attrNameLst>
                                      </p:cBhvr>
                                      <p:to>
                                        <p:clrVal>
                                          <a:schemeClr val="accent2"/>
                                        </p:clrVal>
                                      </p:to>
                                    </p:set>
                                    <p:set>
                                      <p:cBhvr>
                                        <p:cTn id="14" dur="500" fill="hold"/>
                                        <p:tgtEl>
                                          <p:spTgt spid="3">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3">
                                            <p:txEl>
                                              <p:pRg st="3" end="3"/>
                                            </p:txEl>
                                          </p:spTgt>
                                        </p:tgtEl>
                                        <p:attrNameLst>
                                          <p:attrName>style.color</p:attrName>
                                        </p:attrNameLst>
                                      </p:cBhvr>
                                      <p:to>
                                        <p:clrVal>
                                          <a:schemeClr val="accent2"/>
                                        </p:clrVal>
                                      </p:to>
                                    </p:set>
                                    <p:set>
                                      <p:cBhvr>
                                        <p:cTn id="19" dur="500" fill="hold"/>
                                        <p:tgtEl>
                                          <p:spTgt spid="3">
                                            <p:txEl>
                                              <p:pRg st="3" end="3"/>
                                            </p:txEl>
                                          </p:spTgt>
                                        </p:tgtEl>
                                        <p:attrNameLst>
                                          <p:attrName>fillcolor</p:attrName>
                                        </p:attrNameLst>
                                      </p:cBhvr>
                                      <p:to>
                                        <p:clrVal>
                                          <a:schemeClr val="accent2"/>
                                        </p:clrVal>
                                      </p:to>
                                    </p:set>
                                    <p:set>
                                      <p:cBhvr>
                                        <p:cTn id="20" dur="500" fill="hold"/>
                                        <p:tgtEl>
                                          <p:spTgt spid="3">
                                            <p:txEl>
                                              <p:pRg st="3" end="3"/>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3">
                                            <p:txEl>
                                              <p:pRg st="4" end="4"/>
                                            </p:txEl>
                                          </p:spTgt>
                                        </p:tgtEl>
                                        <p:attrNameLst>
                                          <p:attrName>style.color</p:attrName>
                                        </p:attrNameLst>
                                      </p:cBhvr>
                                      <p:to>
                                        <p:clrVal>
                                          <a:schemeClr val="accent2"/>
                                        </p:clrVal>
                                      </p:to>
                                    </p:set>
                                    <p:set>
                                      <p:cBhvr>
                                        <p:cTn id="25" dur="500" fill="hold"/>
                                        <p:tgtEl>
                                          <p:spTgt spid="3">
                                            <p:txEl>
                                              <p:pRg st="4" end="4"/>
                                            </p:txEl>
                                          </p:spTgt>
                                        </p:tgtEl>
                                        <p:attrNameLst>
                                          <p:attrName>fillcolor</p:attrName>
                                        </p:attrNameLst>
                                      </p:cBhvr>
                                      <p:to>
                                        <p:clrVal>
                                          <a:schemeClr val="accent2"/>
                                        </p:clrVal>
                                      </p:to>
                                    </p:set>
                                    <p:set>
                                      <p:cBhvr>
                                        <p:cTn id="26" dur="500" fill="hold"/>
                                        <p:tgtEl>
                                          <p:spTgt spid="3">
                                            <p:txEl>
                                              <p:pRg st="4" end="4"/>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3">
                                            <p:txEl>
                                              <p:pRg st="5" end="5"/>
                                            </p:txEl>
                                          </p:spTgt>
                                        </p:tgtEl>
                                        <p:attrNameLst>
                                          <p:attrName>style.color</p:attrName>
                                        </p:attrNameLst>
                                      </p:cBhvr>
                                      <p:to>
                                        <p:clrVal>
                                          <a:schemeClr val="accent2"/>
                                        </p:clrVal>
                                      </p:to>
                                    </p:set>
                                    <p:set>
                                      <p:cBhvr>
                                        <p:cTn id="31" dur="500" fill="hold"/>
                                        <p:tgtEl>
                                          <p:spTgt spid="3">
                                            <p:txEl>
                                              <p:pRg st="5" end="5"/>
                                            </p:txEl>
                                          </p:spTgt>
                                        </p:tgtEl>
                                        <p:attrNameLst>
                                          <p:attrName>fillcolor</p:attrName>
                                        </p:attrNameLst>
                                      </p:cBhvr>
                                      <p:to>
                                        <p:clrVal>
                                          <a:schemeClr val="accent2"/>
                                        </p:clrVal>
                                      </p:to>
                                    </p:set>
                                    <p:set>
                                      <p:cBhvr>
                                        <p:cTn id="32" dur="500" fill="hold"/>
                                        <p:tgtEl>
                                          <p:spTgt spid="3">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DDA7-E930-70C3-A712-31CB543F3AFB}"/>
              </a:ext>
            </a:extLst>
          </p:cNvPr>
          <p:cNvSpPr>
            <a:spLocks noGrp="1"/>
          </p:cNvSpPr>
          <p:nvPr>
            <p:ph type="title"/>
          </p:nvPr>
        </p:nvSpPr>
        <p:spPr/>
        <p:txBody>
          <a:bodyPr/>
          <a:lstStyle/>
          <a:p>
            <a:r>
              <a:rPr lang="en-EG" dirty="0">
                <a:solidFill>
                  <a:srgbClr val="006499"/>
                </a:solidFill>
              </a:rPr>
              <a:t>Related Work</a:t>
            </a:r>
          </a:p>
        </p:txBody>
      </p:sp>
      <p:pic>
        <p:nvPicPr>
          <p:cNvPr id="5" name="Content Placeholder 4">
            <a:extLst>
              <a:ext uri="{FF2B5EF4-FFF2-40B4-BE49-F238E27FC236}">
                <a16:creationId xmlns:a16="http://schemas.microsoft.com/office/drawing/2014/main" id="{0EF00061-E4DD-D8FA-9E6C-AEF7F9274F89}"/>
              </a:ext>
            </a:extLst>
          </p:cNvPr>
          <p:cNvPicPr>
            <a:picLocks noGrp="1" noChangeAspect="1"/>
          </p:cNvPicPr>
          <p:nvPr>
            <p:ph idx="1"/>
          </p:nvPr>
        </p:nvPicPr>
        <p:blipFill>
          <a:blip r:embed="rId3"/>
          <a:stretch>
            <a:fillRect/>
          </a:stretch>
        </p:blipFill>
        <p:spPr>
          <a:xfrm>
            <a:off x="838200" y="1493115"/>
            <a:ext cx="10515600" cy="4999759"/>
          </a:xfrm>
        </p:spPr>
      </p:pic>
      <p:sp>
        <p:nvSpPr>
          <p:cNvPr id="3" name="TextBox 2">
            <a:extLst>
              <a:ext uri="{FF2B5EF4-FFF2-40B4-BE49-F238E27FC236}">
                <a16:creationId xmlns:a16="http://schemas.microsoft.com/office/drawing/2014/main" id="{0DDD3E8E-7EAF-933D-B5D3-57508E24755B}"/>
              </a:ext>
            </a:extLst>
          </p:cNvPr>
          <p:cNvSpPr txBox="1"/>
          <p:nvPr/>
        </p:nvSpPr>
        <p:spPr>
          <a:xfrm>
            <a:off x="0" y="6334780"/>
            <a:ext cx="9956027" cy="523220"/>
          </a:xfrm>
          <a:prstGeom prst="rect">
            <a:avLst/>
          </a:prstGeom>
          <a:noFill/>
        </p:spPr>
        <p:txBody>
          <a:bodyPr wrap="square" rtlCol="0">
            <a:spAutoFit/>
          </a:bodyPr>
          <a:lstStyle/>
          <a:p>
            <a:r>
              <a:rPr lang="en-US" sz="1400" b="0" i="0" u="none" strike="noStrike" dirty="0">
                <a:solidFill>
                  <a:schemeClr val="tx1">
                    <a:lumMod val="50000"/>
                    <a:lumOff val="50000"/>
                  </a:schemeClr>
                </a:solidFill>
                <a:effectLst/>
                <a:latin typeface="Arial" panose="020B0604020202020204" pitchFamily="34" charset="0"/>
              </a:rPr>
              <a:t>B. Debnath, M. O’Brien, M. Yamaguchi, et al., “A review of computer vision-based approaches for physical rehabilitation and assessment,” Multimedia Systems, vol. 28, no. 2, pp. 209–239, 2022 </a:t>
            </a:r>
            <a:r>
              <a:rPr lang="en-US" sz="1400" b="0" i="0" u="none" strike="noStrike" baseline="30000" dirty="0">
                <a:solidFill>
                  <a:schemeClr val="tx1">
                    <a:lumMod val="50000"/>
                    <a:lumOff val="50000"/>
                  </a:schemeClr>
                </a:solidFill>
                <a:effectLst/>
                <a:latin typeface="Arial" panose="020B0604020202020204" pitchFamily="34" charset="0"/>
              </a:rPr>
              <a:t>[2]</a:t>
            </a:r>
            <a:endParaRPr lang="en-EG" sz="1400" baseline="30000" dirty="0">
              <a:solidFill>
                <a:schemeClr val="tx1">
                  <a:lumMod val="50000"/>
                  <a:lumOff val="50000"/>
                </a:schemeClr>
              </a:solidFill>
            </a:endParaRPr>
          </a:p>
        </p:txBody>
      </p:sp>
    </p:spTree>
    <p:extLst>
      <p:ext uri="{BB962C8B-B14F-4D97-AF65-F5344CB8AC3E}">
        <p14:creationId xmlns:p14="http://schemas.microsoft.com/office/powerpoint/2010/main" val="777426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DDA7-E930-70C3-A712-31CB543F3AFB}"/>
              </a:ext>
            </a:extLst>
          </p:cNvPr>
          <p:cNvSpPr>
            <a:spLocks noGrp="1"/>
          </p:cNvSpPr>
          <p:nvPr>
            <p:ph type="title"/>
          </p:nvPr>
        </p:nvSpPr>
        <p:spPr/>
        <p:txBody>
          <a:bodyPr>
            <a:normAutofit/>
          </a:bodyPr>
          <a:lstStyle/>
          <a:p>
            <a:r>
              <a:rPr lang="en-EG" dirty="0"/>
              <a:t>Related Work 1/2 : </a:t>
            </a:r>
            <a:br>
              <a:rPr lang="en-US" sz="1800" b="1" dirty="0">
                <a:latin typeface="MyriadPro"/>
              </a:rPr>
            </a:br>
            <a:r>
              <a:rPr lang="en-US" sz="1800" b="1" dirty="0">
                <a:effectLst/>
                <a:latin typeface="MyriadPro"/>
              </a:rPr>
              <a:t>Direct rehabilitation systems  :  Pure vision‐based </a:t>
            </a:r>
            <a:endParaRPr lang="en-EG" dirty="0"/>
          </a:p>
        </p:txBody>
      </p:sp>
      <p:sp>
        <p:nvSpPr>
          <p:cNvPr id="4" name="TextBox 3">
            <a:extLst>
              <a:ext uri="{FF2B5EF4-FFF2-40B4-BE49-F238E27FC236}">
                <a16:creationId xmlns:a16="http://schemas.microsoft.com/office/drawing/2014/main" id="{B683488B-C6D2-A4BE-C303-6386B23DCA9A}"/>
              </a:ext>
            </a:extLst>
          </p:cNvPr>
          <p:cNvSpPr txBox="1"/>
          <p:nvPr/>
        </p:nvSpPr>
        <p:spPr>
          <a:xfrm>
            <a:off x="640775" y="5944934"/>
            <a:ext cx="7284025" cy="738664"/>
          </a:xfrm>
          <a:prstGeom prst="rect">
            <a:avLst/>
          </a:prstGeom>
          <a:noFill/>
        </p:spPr>
        <p:txBody>
          <a:bodyPr wrap="square" rtlCol="0">
            <a:spAutoFit/>
          </a:bodyPr>
          <a:lstStyle/>
          <a:p>
            <a:r>
              <a:rPr lang="en-US" sz="1400" b="0" i="0" u="none" strike="noStrike" dirty="0">
                <a:solidFill>
                  <a:srgbClr val="222222"/>
                </a:solidFill>
                <a:effectLst/>
                <a:latin typeface="Arial" panose="020B0604020202020204" pitchFamily="34" charset="0"/>
              </a:rPr>
              <a:t>Gu Y, Pandit S, </a:t>
            </a:r>
            <a:r>
              <a:rPr lang="en-US" sz="1400" b="0" i="0" u="none" strike="noStrike" dirty="0" err="1">
                <a:solidFill>
                  <a:srgbClr val="222222"/>
                </a:solidFill>
                <a:effectLst/>
                <a:latin typeface="Arial" panose="020B0604020202020204" pitchFamily="34" charset="0"/>
              </a:rPr>
              <a:t>Saraee</a:t>
            </a:r>
            <a:r>
              <a:rPr lang="en-US" sz="1400" b="0" i="0" u="none" strike="noStrike" dirty="0">
                <a:solidFill>
                  <a:srgbClr val="222222"/>
                </a:solidFill>
                <a:effectLst/>
                <a:latin typeface="Arial" panose="020B0604020202020204" pitchFamily="34" charset="0"/>
              </a:rPr>
              <a:t> E, </a:t>
            </a:r>
            <a:r>
              <a:rPr lang="en-US" sz="1400" b="0" i="0" u="none" strike="noStrike" dirty="0" err="1">
                <a:solidFill>
                  <a:srgbClr val="222222"/>
                </a:solidFill>
                <a:effectLst/>
                <a:latin typeface="Arial" panose="020B0604020202020204" pitchFamily="34" charset="0"/>
              </a:rPr>
              <a:t>Nordahl</a:t>
            </a:r>
            <a:r>
              <a:rPr lang="en-US" sz="1400" b="0" i="0" u="none" strike="noStrike" dirty="0">
                <a:solidFill>
                  <a:srgbClr val="222222"/>
                </a:solidFill>
                <a:effectLst/>
                <a:latin typeface="Arial" panose="020B0604020202020204" pitchFamily="34" charset="0"/>
              </a:rPr>
              <a:t> T, Ellis T, </a:t>
            </a:r>
            <a:r>
              <a:rPr lang="en-US" sz="1400" b="0" i="0" u="none" strike="noStrike" dirty="0" err="1">
                <a:solidFill>
                  <a:srgbClr val="222222"/>
                </a:solidFill>
                <a:effectLst/>
                <a:latin typeface="Arial" panose="020B0604020202020204" pitchFamily="34" charset="0"/>
              </a:rPr>
              <a:t>Betke</a:t>
            </a:r>
            <a:r>
              <a:rPr lang="en-US" sz="1400" b="0" i="0" u="none" strike="noStrike" dirty="0">
                <a:solidFill>
                  <a:srgbClr val="222222"/>
                </a:solidFill>
                <a:effectLst/>
                <a:latin typeface="Arial" panose="020B0604020202020204" pitchFamily="34" charset="0"/>
              </a:rPr>
              <a:t> M. Home-based physical therapy with an interactive computer vision system. </a:t>
            </a:r>
            <a:r>
              <a:rPr lang="en-US" sz="1400" b="0" i="0" u="none" strike="noStrike" dirty="0" err="1">
                <a:solidFill>
                  <a:srgbClr val="222222"/>
                </a:solidFill>
                <a:effectLst/>
                <a:latin typeface="Arial" panose="020B0604020202020204" pitchFamily="34" charset="0"/>
              </a:rPr>
              <a:t>InProceedings</a:t>
            </a:r>
            <a:r>
              <a:rPr lang="en-US" sz="1400" b="0" i="0" u="none" strike="noStrike" dirty="0">
                <a:solidFill>
                  <a:srgbClr val="222222"/>
                </a:solidFill>
                <a:effectLst/>
                <a:latin typeface="Arial" panose="020B0604020202020204" pitchFamily="34" charset="0"/>
              </a:rPr>
              <a:t> of the IEEE/CVF International Conference on Computer Vision Workshops 2019 (pp. 0-0).</a:t>
            </a:r>
            <a:endParaRPr lang="en-EG" sz="1400" dirty="0"/>
          </a:p>
        </p:txBody>
      </p:sp>
      <p:sp>
        <p:nvSpPr>
          <p:cNvPr id="5" name="Content Placeholder 4">
            <a:extLst>
              <a:ext uri="{FF2B5EF4-FFF2-40B4-BE49-F238E27FC236}">
                <a16:creationId xmlns:a16="http://schemas.microsoft.com/office/drawing/2014/main" id="{AF9FD766-C0F6-B42A-4398-F56A1DCE3F76}"/>
              </a:ext>
            </a:extLst>
          </p:cNvPr>
          <p:cNvSpPr>
            <a:spLocks noGrp="1"/>
          </p:cNvSpPr>
          <p:nvPr>
            <p:ph idx="1"/>
          </p:nvPr>
        </p:nvSpPr>
        <p:spPr>
          <a:xfrm>
            <a:off x="838200" y="1825625"/>
            <a:ext cx="5665393" cy="3553199"/>
          </a:xfrm>
        </p:spPr>
        <p:txBody>
          <a:bodyPr/>
          <a:lstStyle/>
          <a:p>
            <a:r>
              <a:rPr lang="en-US" sz="1800" i="1" dirty="0">
                <a:effectLst/>
                <a:latin typeface="NimbusRomNo9L"/>
              </a:rPr>
              <a:t>RGB or RGB-D camera input. </a:t>
            </a:r>
          </a:p>
          <a:p>
            <a:r>
              <a:rPr lang="en-US" sz="1800" i="1" dirty="0">
                <a:effectLst/>
                <a:latin typeface="NimbusRomNo9L"/>
              </a:rPr>
              <a:t>pilot study to compare the pose estimates produced by four deep models based on RGB input with those of the MS Kinect based on RGB-D data. </a:t>
            </a:r>
          </a:p>
          <a:p>
            <a:pPr lvl="1"/>
            <a:r>
              <a:rPr lang="en-US" sz="1400" i="1" dirty="0">
                <a:effectLst/>
                <a:latin typeface="NimbusRomNo9L"/>
              </a:rPr>
              <a:t>choose the MS Kinect when tested with Parkinson’s disease patients in their homes. </a:t>
            </a:r>
          </a:p>
          <a:p>
            <a:r>
              <a:rPr lang="en-US" sz="1800" i="1" dirty="0">
                <a:effectLst/>
                <a:latin typeface="NimbusRomNo9L"/>
              </a:rPr>
              <a:t>capturing exercise information, evaluating patient performance, providing therapeutic feedback to the patient and the therapist, checking the progress of the user over the course of the physical therapy, and supporting the patient throughout this period. </a:t>
            </a:r>
            <a:endParaRPr lang="en-US" sz="800" dirty="0"/>
          </a:p>
          <a:p>
            <a:endParaRPr lang="en-US" sz="1000" dirty="0"/>
          </a:p>
          <a:p>
            <a:endParaRPr lang="en-US" sz="1200" dirty="0"/>
          </a:p>
        </p:txBody>
      </p:sp>
      <p:pic>
        <p:nvPicPr>
          <p:cNvPr id="6" name="Picture 5">
            <a:extLst>
              <a:ext uri="{FF2B5EF4-FFF2-40B4-BE49-F238E27FC236}">
                <a16:creationId xmlns:a16="http://schemas.microsoft.com/office/drawing/2014/main" id="{EAA974ED-441C-87F9-948D-CDAB054B9620}"/>
              </a:ext>
            </a:extLst>
          </p:cNvPr>
          <p:cNvPicPr>
            <a:picLocks noChangeAspect="1"/>
          </p:cNvPicPr>
          <p:nvPr/>
        </p:nvPicPr>
        <p:blipFill>
          <a:blip r:embed="rId2"/>
          <a:stretch>
            <a:fillRect/>
          </a:stretch>
        </p:blipFill>
        <p:spPr>
          <a:xfrm>
            <a:off x="8286749" y="2003047"/>
            <a:ext cx="3700397" cy="2209192"/>
          </a:xfrm>
          <a:prstGeom prst="rect">
            <a:avLst/>
          </a:prstGeom>
        </p:spPr>
      </p:pic>
      <p:pic>
        <p:nvPicPr>
          <p:cNvPr id="8" name="Picture 7">
            <a:extLst>
              <a:ext uri="{FF2B5EF4-FFF2-40B4-BE49-F238E27FC236}">
                <a16:creationId xmlns:a16="http://schemas.microsoft.com/office/drawing/2014/main" id="{939C9841-9327-E9D8-B536-9E2890D25383}"/>
              </a:ext>
            </a:extLst>
          </p:cNvPr>
          <p:cNvPicPr>
            <a:picLocks noChangeAspect="1"/>
          </p:cNvPicPr>
          <p:nvPr/>
        </p:nvPicPr>
        <p:blipFill>
          <a:blip r:embed="rId3"/>
          <a:stretch>
            <a:fillRect/>
          </a:stretch>
        </p:blipFill>
        <p:spPr>
          <a:xfrm>
            <a:off x="8476151" y="4524598"/>
            <a:ext cx="3510995" cy="2159000"/>
          </a:xfrm>
          <a:prstGeom prst="rect">
            <a:avLst/>
          </a:prstGeom>
        </p:spPr>
      </p:pic>
      <p:pic>
        <p:nvPicPr>
          <p:cNvPr id="10" name="Picture 9">
            <a:extLst>
              <a:ext uri="{FF2B5EF4-FFF2-40B4-BE49-F238E27FC236}">
                <a16:creationId xmlns:a16="http://schemas.microsoft.com/office/drawing/2014/main" id="{123F4141-7281-16CB-3DCD-6224F0D5B1FC}"/>
              </a:ext>
            </a:extLst>
          </p:cNvPr>
          <p:cNvPicPr>
            <a:picLocks noChangeAspect="1"/>
          </p:cNvPicPr>
          <p:nvPr/>
        </p:nvPicPr>
        <p:blipFill>
          <a:blip r:embed="rId4"/>
          <a:stretch>
            <a:fillRect/>
          </a:stretch>
        </p:blipFill>
        <p:spPr>
          <a:xfrm>
            <a:off x="7533490" y="0"/>
            <a:ext cx="4621146" cy="2228226"/>
          </a:xfrm>
          <a:prstGeom prst="rect">
            <a:avLst/>
          </a:prstGeom>
        </p:spPr>
      </p:pic>
    </p:spTree>
    <p:extLst>
      <p:ext uri="{BB962C8B-B14F-4D97-AF65-F5344CB8AC3E}">
        <p14:creationId xmlns:p14="http://schemas.microsoft.com/office/powerpoint/2010/main" val="2909956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DDA7-E930-70C3-A712-31CB543F3AFB}"/>
              </a:ext>
            </a:extLst>
          </p:cNvPr>
          <p:cNvSpPr>
            <a:spLocks noGrp="1"/>
          </p:cNvSpPr>
          <p:nvPr>
            <p:ph type="title"/>
          </p:nvPr>
        </p:nvSpPr>
        <p:spPr/>
        <p:txBody>
          <a:bodyPr>
            <a:normAutofit/>
          </a:bodyPr>
          <a:lstStyle/>
          <a:p>
            <a:r>
              <a:rPr lang="en-EG" dirty="0"/>
              <a:t>Related Work 2/2  : </a:t>
            </a:r>
            <a:br>
              <a:rPr lang="en-US" sz="1800" b="1" dirty="0">
                <a:latin typeface="MyriadPro"/>
              </a:rPr>
            </a:br>
            <a:r>
              <a:rPr lang="en-US" sz="1800" b="1" dirty="0">
                <a:effectLst/>
                <a:latin typeface="MyriadPro"/>
              </a:rPr>
              <a:t>Virtual Rehabilitation systems  :  Multi-Modal</a:t>
            </a:r>
            <a:endParaRPr lang="en-EG" dirty="0"/>
          </a:p>
        </p:txBody>
      </p:sp>
      <p:sp>
        <p:nvSpPr>
          <p:cNvPr id="4" name="TextBox 3">
            <a:extLst>
              <a:ext uri="{FF2B5EF4-FFF2-40B4-BE49-F238E27FC236}">
                <a16:creationId xmlns:a16="http://schemas.microsoft.com/office/drawing/2014/main" id="{B683488B-C6D2-A4BE-C303-6386B23DCA9A}"/>
              </a:ext>
            </a:extLst>
          </p:cNvPr>
          <p:cNvSpPr txBox="1"/>
          <p:nvPr/>
        </p:nvSpPr>
        <p:spPr>
          <a:xfrm>
            <a:off x="678875" y="5934670"/>
            <a:ext cx="10321636" cy="830997"/>
          </a:xfrm>
          <a:prstGeom prst="rect">
            <a:avLst/>
          </a:prstGeom>
          <a:noFill/>
        </p:spPr>
        <p:txBody>
          <a:bodyPr wrap="square" rtlCol="0">
            <a:spAutoFit/>
          </a:bodyPr>
          <a:lstStyle/>
          <a:p>
            <a:r>
              <a:rPr lang="en-US" sz="1600" b="0" i="0" u="none" strike="noStrike" dirty="0">
                <a:solidFill>
                  <a:srgbClr val="222222"/>
                </a:solidFill>
                <a:effectLst/>
                <a:latin typeface="Arial" panose="020B0604020202020204" pitchFamily="34" charset="0"/>
              </a:rPr>
              <a:t>Rivas JJ, del Carmen Lara M, </a:t>
            </a:r>
            <a:r>
              <a:rPr lang="en-US" sz="1600" b="0" i="0" u="none" strike="noStrike" dirty="0" err="1">
                <a:solidFill>
                  <a:srgbClr val="222222"/>
                </a:solidFill>
                <a:effectLst/>
                <a:latin typeface="Arial" panose="020B0604020202020204" pitchFamily="34" charset="0"/>
              </a:rPr>
              <a:t>Castrejon</a:t>
            </a:r>
            <a:r>
              <a:rPr lang="en-US" sz="1600" b="0" i="0" u="none" strike="noStrike" dirty="0">
                <a:solidFill>
                  <a:srgbClr val="222222"/>
                </a:solidFill>
                <a:effectLst/>
                <a:latin typeface="Arial" panose="020B0604020202020204" pitchFamily="34" charset="0"/>
              </a:rPr>
              <a:t> L, Hernandez-Franco J, </a:t>
            </a:r>
            <a:r>
              <a:rPr lang="en-US" sz="1600" b="0" i="0" u="none" strike="noStrike" dirty="0" err="1">
                <a:solidFill>
                  <a:srgbClr val="222222"/>
                </a:solidFill>
                <a:effectLst/>
                <a:latin typeface="Arial" panose="020B0604020202020204" pitchFamily="34" charset="0"/>
              </a:rPr>
              <a:t>Orihuela-Espina</a:t>
            </a:r>
            <a:r>
              <a:rPr lang="en-US" sz="1600" b="0" i="0" u="none" strike="noStrike" dirty="0">
                <a:solidFill>
                  <a:srgbClr val="222222"/>
                </a:solidFill>
                <a:effectLst/>
                <a:latin typeface="Arial" panose="020B0604020202020204" pitchFamily="34" charset="0"/>
              </a:rPr>
              <a:t> F, Palafox L, Williams A, Bianchi-</a:t>
            </a:r>
            <a:r>
              <a:rPr lang="en-US" sz="1600" b="0" i="0" u="none" strike="noStrike" dirty="0" err="1">
                <a:solidFill>
                  <a:srgbClr val="222222"/>
                </a:solidFill>
                <a:effectLst/>
                <a:latin typeface="Arial" panose="020B0604020202020204" pitchFamily="34" charset="0"/>
              </a:rPr>
              <a:t>Berthouze</a:t>
            </a:r>
            <a:r>
              <a:rPr lang="en-US" sz="1600" b="0" i="0" u="none" strike="noStrike" dirty="0">
                <a:solidFill>
                  <a:srgbClr val="222222"/>
                </a:solidFill>
                <a:effectLst/>
                <a:latin typeface="Arial" panose="020B0604020202020204" pitchFamily="34" charset="0"/>
              </a:rPr>
              <a:t> N, </a:t>
            </a:r>
            <a:r>
              <a:rPr lang="en-US" sz="1600" b="0" i="0" u="none" strike="noStrike" dirty="0" err="1">
                <a:solidFill>
                  <a:srgbClr val="222222"/>
                </a:solidFill>
                <a:effectLst/>
                <a:latin typeface="Arial" panose="020B0604020202020204" pitchFamily="34" charset="0"/>
              </a:rPr>
              <a:t>Sucar</a:t>
            </a:r>
            <a:r>
              <a:rPr lang="en-US" sz="1600" b="0" i="0" u="none" strike="noStrike" dirty="0">
                <a:solidFill>
                  <a:srgbClr val="222222"/>
                </a:solidFill>
                <a:effectLst/>
                <a:latin typeface="Arial" panose="020B0604020202020204" pitchFamily="34" charset="0"/>
              </a:rPr>
              <a:t> LE. Multi-label and multimodal classifier for affective states recognition in virtual rehabilitation. IEEE Transactions on Affective Computing. 2021 Feb 1;13(3):1183-94.</a:t>
            </a:r>
            <a:endParaRPr lang="en-EG" sz="1600" dirty="0"/>
          </a:p>
        </p:txBody>
      </p:sp>
      <p:sp>
        <p:nvSpPr>
          <p:cNvPr id="5" name="Content Placeholder 4">
            <a:extLst>
              <a:ext uri="{FF2B5EF4-FFF2-40B4-BE49-F238E27FC236}">
                <a16:creationId xmlns:a16="http://schemas.microsoft.com/office/drawing/2014/main" id="{AF9FD766-C0F6-B42A-4398-F56A1DCE3F76}"/>
              </a:ext>
            </a:extLst>
          </p:cNvPr>
          <p:cNvSpPr>
            <a:spLocks noGrp="1"/>
          </p:cNvSpPr>
          <p:nvPr>
            <p:ph idx="1"/>
          </p:nvPr>
        </p:nvSpPr>
        <p:spPr>
          <a:xfrm>
            <a:off x="838200" y="1825625"/>
            <a:ext cx="6036126" cy="4351338"/>
          </a:xfrm>
        </p:spPr>
        <p:txBody>
          <a:bodyPr/>
          <a:lstStyle/>
          <a:p>
            <a:pPr algn="just"/>
            <a:r>
              <a:rPr lang="en-US" sz="1800" b="1" dirty="0">
                <a:effectLst/>
                <a:latin typeface="Times" pitchFamily="2" charset="0"/>
              </a:rPr>
              <a:t>proposes the combination of a multi-label classifier, Circular Classifier Chain (CCC), with a multimodal classifier, Fusion using a Semi-Naive Bayesian classifier (FSNBC).</a:t>
            </a:r>
          </a:p>
          <a:p>
            <a:pPr marL="0" indent="0">
              <a:buNone/>
            </a:pPr>
            <a:endParaRPr lang="en-US" dirty="0"/>
          </a:p>
        </p:txBody>
      </p:sp>
      <p:pic>
        <p:nvPicPr>
          <p:cNvPr id="3076" name="Picture 4" descr="page2image526898992">
            <a:extLst>
              <a:ext uri="{FF2B5EF4-FFF2-40B4-BE49-F238E27FC236}">
                <a16:creationId xmlns:a16="http://schemas.microsoft.com/office/drawing/2014/main" id="{55869964-27DD-D266-ACFC-6BD05B753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462" y="4001294"/>
            <a:ext cx="1990355" cy="15922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D064377-ABA4-9692-55FE-1C348EEB9517}"/>
              </a:ext>
            </a:extLst>
          </p:cNvPr>
          <p:cNvPicPr>
            <a:picLocks noChangeAspect="1"/>
          </p:cNvPicPr>
          <p:nvPr/>
        </p:nvPicPr>
        <p:blipFill>
          <a:blip r:embed="rId3"/>
          <a:stretch>
            <a:fillRect/>
          </a:stretch>
        </p:blipFill>
        <p:spPr>
          <a:xfrm>
            <a:off x="6527800" y="958078"/>
            <a:ext cx="5664200" cy="4635500"/>
          </a:xfrm>
          <a:prstGeom prst="rect">
            <a:avLst/>
          </a:prstGeom>
        </p:spPr>
      </p:pic>
      <p:pic>
        <p:nvPicPr>
          <p:cNvPr id="8" name="Picture 7">
            <a:extLst>
              <a:ext uri="{FF2B5EF4-FFF2-40B4-BE49-F238E27FC236}">
                <a16:creationId xmlns:a16="http://schemas.microsoft.com/office/drawing/2014/main" id="{FA0AF888-AAE9-5DCD-CFD9-98876556A353}"/>
              </a:ext>
            </a:extLst>
          </p:cNvPr>
          <p:cNvPicPr>
            <a:picLocks noChangeAspect="1"/>
          </p:cNvPicPr>
          <p:nvPr/>
        </p:nvPicPr>
        <p:blipFill>
          <a:blip r:embed="rId4"/>
          <a:stretch>
            <a:fillRect/>
          </a:stretch>
        </p:blipFill>
        <p:spPr>
          <a:xfrm>
            <a:off x="552336" y="3092031"/>
            <a:ext cx="6036126" cy="2807891"/>
          </a:xfrm>
          <a:prstGeom prst="rect">
            <a:avLst/>
          </a:prstGeom>
        </p:spPr>
      </p:pic>
    </p:spTree>
    <p:extLst>
      <p:ext uri="{BB962C8B-B14F-4D97-AF65-F5344CB8AC3E}">
        <p14:creationId xmlns:p14="http://schemas.microsoft.com/office/powerpoint/2010/main" val="3214534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DDA7-E930-70C3-A712-31CB543F3AFB}"/>
              </a:ext>
            </a:extLst>
          </p:cNvPr>
          <p:cNvSpPr>
            <a:spLocks noGrp="1"/>
          </p:cNvSpPr>
          <p:nvPr>
            <p:ph type="title"/>
          </p:nvPr>
        </p:nvSpPr>
        <p:spPr>
          <a:xfrm>
            <a:off x="838200" y="365125"/>
            <a:ext cx="10515600" cy="669065"/>
          </a:xfrm>
        </p:spPr>
        <p:txBody>
          <a:bodyPr>
            <a:normAutofit fontScale="90000"/>
          </a:bodyPr>
          <a:lstStyle/>
          <a:p>
            <a:r>
              <a:rPr lang="en-EG" dirty="0">
                <a:solidFill>
                  <a:srgbClr val="006499"/>
                </a:solidFill>
              </a:rPr>
              <a:t>Related Work 1/2 : </a:t>
            </a:r>
          </a:p>
        </p:txBody>
      </p:sp>
      <p:sp>
        <p:nvSpPr>
          <p:cNvPr id="4" name="TextBox 3">
            <a:extLst>
              <a:ext uri="{FF2B5EF4-FFF2-40B4-BE49-F238E27FC236}">
                <a16:creationId xmlns:a16="http://schemas.microsoft.com/office/drawing/2014/main" id="{B683488B-C6D2-A4BE-C303-6386B23DCA9A}"/>
              </a:ext>
            </a:extLst>
          </p:cNvPr>
          <p:cNvSpPr txBox="1"/>
          <p:nvPr/>
        </p:nvSpPr>
        <p:spPr>
          <a:xfrm>
            <a:off x="640775" y="5944934"/>
            <a:ext cx="7284025" cy="600164"/>
          </a:xfrm>
          <a:prstGeom prst="rect">
            <a:avLst/>
          </a:prstGeom>
          <a:noFill/>
        </p:spPr>
        <p:txBody>
          <a:bodyPr wrap="square" rtlCol="0">
            <a:spAutoFit/>
          </a:bodyPr>
          <a:lstStyle/>
          <a:p>
            <a:r>
              <a:rPr lang="en-US" sz="1100" b="0" i="0" u="none" strike="noStrike" dirty="0">
                <a:solidFill>
                  <a:schemeClr val="tx1">
                    <a:lumMod val="50000"/>
                    <a:lumOff val="50000"/>
                  </a:schemeClr>
                </a:solidFill>
                <a:effectLst/>
                <a:latin typeface="Arial" panose="020B0604020202020204" pitchFamily="34" charset="0"/>
              </a:rPr>
              <a:t>F. A. Rashid, N. S. </a:t>
            </a:r>
            <a:r>
              <a:rPr lang="en-US" sz="1100" b="0" i="0" u="none" strike="noStrike" dirty="0" err="1">
                <a:solidFill>
                  <a:schemeClr val="tx1">
                    <a:lumMod val="50000"/>
                    <a:lumOff val="50000"/>
                  </a:schemeClr>
                </a:solidFill>
                <a:effectLst/>
                <a:latin typeface="Arial" panose="020B0604020202020204" pitchFamily="34" charset="0"/>
              </a:rPr>
              <a:t>Suriani</a:t>
            </a:r>
            <a:r>
              <a:rPr lang="en-US" sz="1100" b="0" i="0" u="none" strike="noStrike" dirty="0">
                <a:solidFill>
                  <a:schemeClr val="tx1">
                    <a:lumMod val="50000"/>
                    <a:lumOff val="50000"/>
                  </a:schemeClr>
                </a:solidFill>
                <a:effectLst/>
                <a:latin typeface="Arial" panose="020B0604020202020204" pitchFamily="34" charset="0"/>
              </a:rPr>
              <a:t>, M. N. </a:t>
            </a:r>
            <a:r>
              <a:rPr lang="en-US" sz="1100" b="0" i="0" u="none" strike="noStrike" dirty="0" err="1">
                <a:solidFill>
                  <a:schemeClr val="tx1">
                    <a:lumMod val="50000"/>
                    <a:lumOff val="50000"/>
                  </a:schemeClr>
                </a:solidFill>
                <a:effectLst/>
                <a:latin typeface="Arial" panose="020B0604020202020204" pitchFamily="34" charset="0"/>
              </a:rPr>
              <a:t>Mohd</a:t>
            </a:r>
            <a:r>
              <a:rPr lang="en-US" sz="1100" b="0" i="0" u="none" strike="noStrike" dirty="0">
                <a:solidFill>
                  <a:schemeClr val="tx1">
                    <a:lumMod val="50000"/>
                    <a:lumOff val="50000"/>
                  </a:schemeClr>
                </a:solidFill>
                <a:effectLst/>
                <a:latin typeface="Arial" panose="020B0604020202020204" pitchFamily="34" charset="0"/>
              </a:rPr>
              <a:t>, M. R. </a:t>
            </a:r>
            <a:r>
              <a:rPr lang="en-US" sz="1100" b="0" i="0" u="none" strike="noStrike" dirty="0" err="1">
                <a:solidFill>
                  <a:schemeClr val="tx1">
                    <a:lumMod val="50000"/>
                    <a:lumOff val="50000"/>
                  </a:schemeClr>
                </a:solidFill>
                <a:effectLst/>
                <a:latin typeface="Arial" panose="020B0604020202020204" pitchFamily="34" charset="0"/>
              </a:rPr>
              <a:t>Tomari</a:t>
            </a:r>
            <a:r>
              <a:rPr lang="en-US" sz="1100" b="0" i="0" u="none" strike="noStrike" dirty="0">
                <a:solidFill>
                  <a:schemeClr val="tx1">
                    <a:lumMod val="50000"/>
                    <a:lumOff val="50000"/>
                  </a:schemeClr>
                </a:solidFill>
                <a:effectLst/>
                <a:latin typeface="Arial" panose="020B0604020202020204" pitchFamily="34" charset="0"/>
              </a:rPr>
              <a:t>, W. N. W. Zakaria, and A. Nazari, “Deep convolutional network approach in spike train analysis of physiotherapy movements,” in Advances in Electronics Engineering: Proceedings of the ICCEE 2019, Kuala Lumpur, Malaysia, pp. 159–170, Springer Singapore, 2020 [3]</a:t>
            </a:r>
          </a:p>
        </p:txBody>
      </p:sp>
      <p:sp>
        <p:nvSpPr>
          <p:cNvPr id="5" name="Content Placeholder 4">
            <a:extLst>
              <a:ext uri="{FF2B5EF4-FFF2-40B4-BE49-F238E27FC236}">
                <a16:creationId xmlns:a16="http://schemas.microsoft.com/office/drawing/2014/main" id="{AF9FD766-C0F6-B42A-4398-F56A1DCE3F76}"/>
              </a:ext>
            </a:extLst>
          </p:cNvPr>
          <p:cNvSpPr>
            <a:spLocks noGrp="1"/>
          </p:cNvSpPr>
          <p:nvPr>
            <p:ph idx="1"/>
          </p:nvPr>
        </p:nvSpPr>
        <p:spPr>
          <a:xfrm>
            <a:off x="838200" y="1080172"/>
            <a:ext cx="6940463" cy="2445750"/>
          </a:xfrm>
        </p:spPr>
        <p:txBody>
          <a:bodyPr/>
          <a:lstStyle/>
          <a:p>
            <a:r>
              <a:rPr lang="en-US" sz="1800" dirty="0">
                <a:latin typeface="TimesNewRomanPSMT"/>
              </a:rPr>
              <a:t>This research intended to classify different types of exercises by implementing spike train features into deep learning.</a:t>
            </a:r>
          </a:p>
          <a:p>
            <a:r>
              <a:rPr lang="en-US" sz="1800" dirty="0">
                <a:latin typeface="TimesNewRomanPSMT"/>
              </a:rPr>
              <a:t>UI-PRMD Dataset</a:t>
            </a:r>
          </a:p>
          <a:p>
            <a:r>
              <a:rPr lang="en-US" sz="1800" dirty="0">
                <a:effectLst/>
                <a:latin typeface="TimesNewRomanPSMT"/>
              </a:rPr>
              <a:t>This paper chose to adopt </a:t>
            </a:r>
            <a:r>
              <a:rPr lang="en-US" sz="1800" dirty="0" err="1">
                <a:effectLst/>
                <a:latin typeface="TimesNewRomanPSMT"/>
              </a:rPr>
              <a:t>ResNet</a:t>
            </a:r>
            <a:r>
              <a:rPr lang="en-US" sz="1800" dirty="0">
                <a:effectLst/>
                <a:latin typeface="TimesNewRomanPSMT"/>
              </a:rPr>
              <a:t> as their CNN model for classification </a:t>
            </a:r>
          </a:p>
          <a:p>
            <a:r>
              <a:rPr lang="en-US" sz="1800" dirty="0">
                <a:effectLst/>
                <a:latin typeface="TimesNewRomanPSMT"/>
              </a:rPr>
              <a:t>Data has been parted into 100 frames </a:t>
            </a:r>
            <a:endParaRPr lang="en-US" sz="1200" dirty="0"/>
          </a:p>
          <a:p>
            <a:r>
              <a:rPr lang="en-US" sz="1800" dirty="0">
                <a:effectLst/>
                <a:latin typeface="TimesNewRomanPSMT"/>
              </a:rPr>
              <a:t>The classification achieved 77%</a:t>
            </a:r>
            <a:endParaRPr lang="en-US" sz="1200" dirty="0"/>
          </a:p>
          <a:p>
            <a:endParaRPr lang="en-US" sz="1800" dirty="0">
              <a:effectLst/>
              <a:latin typeface="TimesNewRomanPSMT"/>
            </a:endParaRPr>
          </a:p>
          <a:p>
            <a:endParaRPr lang="en-US" sz="1000" dirty="0"/>
          </a:p>
          <a:p>
            <a:endParaRPr lang="en-US" sz="1200" dirty="0"/>
          </a:p>
        </p:txBody>
      </p:sp>
      <p:pic>
        <p:nvPicPr>
          <p:cNvPr id="11" name="Picture 10">
            <a:extLst>
              <a:ext uri="{FF2B5EF4-FFF2-40B4-BE49-F238E27FC236}">
                <a16:creationId xmlns:a16="http://schemas.microsoft.com/office/drawing/2014/main" id="{7E5EBE4E-A12C-DAEF-373D-741ECDBAB630}"/>
              </a:ext>
            </a:extLst>
          </p:cNvPr>
          <p:cNvPicPr>
            <a:picLocks noChangeAspect="1"/>
          </p:cNvPicPr>
          <p:nvPr/>
        </p:nvPicPr>
        <p:blipFill rotWithShape="1">
          <a:blip r:embed="rId3"/>
          <a:srcRect l="26397" t="23342" r="24826" b="8555"/>
          <a:stretch/>
        </p:blipFill>
        <p:spPr>
          <a:xfrm>
            <a:off x="7778663" y="4985359"/>
            <a:ext cx="4413337" cy="1872641"/>
          </a:xfrm>
          <a:prstGeom prst="rect">
            <a:avLst/>
          </a:prstGeom>
        </p:spPr>
      </p:pic>
      <p:pic>
        <p:nvPicPr>
          <p:cNvPr id="13" name="Picture 12">
            <a:extLst>
              <a:ext uri="{FF2B5EF4-FFF2-40B4-BE49-F238E27FC236}">
                <a16:creationId xmlns:a16="http://schemas.microsoft.com/office/drawing/2014/main" id="{2CA6EFF5-0657-2AA9-1437-79B43E60B89F}"/>
              </a:ext>
            </a:extLst>
          </p:cNvPr>
          <p:cNvPicPr>
            <a:picLocks noChangeAspect="1"/>
          </p:cNvPicPr>
          <p:nvPr/>
        </p:nvPicPr>
        <p:blipFill rotWithShape="1">
          <a:blip r:embed="rId4"/>
          <a:srcRect l="25191" t="21672" r="27394" b="44131"/>
          <a:stretch/>
        </p:blipFill>
        <p:spPr>
          <a:xfrm>
            <a:off x="831484" y="3429000"/>
            <a:ext cx="6784341" cy="2419012"/>
          </a:xfrm>
          <a:prstGeom prst="rect">
            <a:avLst/>
          </a:prstGeom>
        </p:spPr>
      </p:pic>
      <p:pic>
        <p:nvPicPr>
          <p:cNvPr id="15" name="Picture 14">
            <a:extLst>
              <a:ext uri="{FF2B5EF4-FFF2-40B4-BE49-F238E27FC236}">
                <a16:creationId xmlns:a16="http://schemas.microsoft.com/office/drawing/2014/main" id="{71A6F955-594E-50B4-F131-AF9BE266BE71}"/>
              </a:ext>
            </a:extLst>
          </p:cNvPr>
          <p:cNvPicPr>
            <a:picLocks noChangeAspect="1"/>
          </p:cNvPicPr>
          <p:nvPr/>
        </p:nvPicPr>
        <p:blipFill rotWithShape="1">
          <a:blip r:embed="rId5"/>
          <a:srcRect l="34938" t="18124" r="35892" b="3978"/>
          <a:stretch/>
        </p:blipFill>
        <p:spPr>
          <a:xfrm>
            <a:off x="8185434" y="365125"/>
            <a:ext cx="3599794" cy="4358194"/>
          </a:xfrm>
          <a:prstGeom prst="rect">
            <a:avLst/>
          </a:prstGeom>
        </p:spPr>
      </p:pic>
    </p:spTree>
    <p:extLst>
      <p:ext uri="{BB962C8B-B14F-4D97-AF65-F5344CB8AC3E}">
        <p14:creationId xmlns:p14="http://schemas.microsoft.com/office/powerpoint/2010/main" val="414606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83488B-C6D2-A4BE-C303-6386B23DCA9A}"/>
              </a:ext>
            </a:extLst>
          </p:cNvPr>
          <p:cNvSpPr txBox="1"/>
          <p:nvPr/>
        </p:nvSpPr>
        <p:spPr>
          <a:xfrm>
            <a:off x="678875" y="5934670"/>
            <a:ext cx="10321636" cy="584775"/>
          </a:xfrm>
          <a:prstGeom prst="rect">
            <a:avLst/>
          </a:prstGeom>
          <a:noFill/>
        </p:spPr>
        <p:txBody>
          <a:bodyPr wrap="square" rtlCol="0">
            <a:spAutoFit/>
          </a:bodyPr>
          <a:lstStyle/>
          <a:p>
            <a:r>
              <a:rPr lang="en-US" sz="1600" dirty="0">
                <a:solidFill>
                  <a:schemeClr val="tx1">
                    <a:lumMod val="50000"/>
                    <a:lumOff val="50000"/>
                  </a:schemeClr>
                </a:solidFill>
                <a:latin typeface="Arial" panose="020B0604020202020204" pitchFamily="34" charset="0"/>
              </a:rPr>
              <a:t>N. </a:t>
            </a:r>
            <a:r>
              <a:rPr lang="en-US" sz="1600" dirty="0" err="1">
                <a:solidFill>
                  <a:schemeClr val="tx1">
                    <a:lumMod val="50000"/>
                    <a:lumOff val="50000"/>
                  </a:schemeClr>
                </a:solidFill>
                <a:latin typeface="Arial" panose="020B0604020202020204" pitchFamily="34" charset="0"/>
              </a:rPr>
              <a:t>Tasnim</a:t>
            </a:r>
            <a:r>
              <a:rPr lang="en-US" sz="1600" dirty="0">
                <a:solidFill>
                  <a:schemeClr val="tx1">
                    <a:lumMod val="50000"/>
                    <a:lumOff val="50000"/>
                  </a:schemeClr>
                </a:solidFill>
                <a:latin typeface="Arial" panose="020B0604020202020204" pitchFamily="34" charset="0"/>
              </a:rPr>
              <a:t> and J.-H. </a:t>
            </a:r>
            <a:r>
              <a:rPr lang="en-US" sz="1600" dirty="0" err="1">
                <a:solidFill>
                  <a:schemeClr val="tx1">
                    <a:lumMod val="50000"/>
                    <a:lumOff val="50000"/>
                  </a:schemeClr>
                </a:solidFill>
                <a:latin typeface="Arial" panose="020B0604020202020204" pitchFamily="34" charset="0"/>
              </a:rPr>
              <a:t>Baek</a:t>
            </a:r>
            <a:r>
              <a:rPr lang="en-US" sz="1600" dirty="0">
                <a:solidFill>
                  <a:schemeClr val="tx1">
                    <a:lumMod val="50000"/>
                    <a:lumOff val="50000"/>
                  </a:schemeClr>
                </a:solidFill>
                <a:latin typeface="Arial" panose="020B0604020202020204" pitchFamily="34" charset="0"/>
              </a:rPr>
              <a:t>, “Dynamic edge convolutional neural network for skeleton-based human action recognition,” Sensors, vol. 23, no. 2,p. 778, 2023. </a:t>
            </a:r>
            <a:r>
              <a:rPr lang="en-US" sz="1600" baseline="30000" dirty="0">
                <a:solidFill>
                  <a:schemeClr val="tx1">
                    <a:lumMod val="50000"/>
                    <a:lumOff val="50000"/>
                  </a:schemeClr>
                </a:solidFill>
                <a:latin typeface="Arial" panose="020B0604020202020204" pitchFamily="34" charset="0"/>
              </a:rPr>
              <a:t>[4]</a:t>
            </a:r>
            <a:endParaRPr lang="en-EG" sz="1600" baseline="30000" dirty="0">
              <a:solidFill>
                <a:schemeClr val="tx1">
                  <a:lumMod val="50000"/>
                  <a:lumOff val="50000"/>
                </a:schemeClr>
              </a:solidFill>
            </a:endParaRPr>
          </a:p>
        </p:txBody>
      </p:sp>
      <p:sp>
        <p:nvSpPr>
          <p:cNvPr id="11" name="Title 1">
            <a:extLst>
              <a:ext uri="{FF2B5EF4-FFF2-40B4-BE49-F238E27FC236}">
                <a16:creationId xmlns:a16="http://schemas.microsoft.com/office/drawing/2014/main" id="{179BEB9D-D0E5-CDB6-6B01-F036EB470F69}"/>
              </a:ext>
            </a:extLst>
          </p:cNvPr>
          <p:cNvSpPr txBox="1">
            <a:spLocks/>
          </p:cNvSpPr>
          <p:nvPr/>
        </p:nvSpPr>
        <p:spPr>
          <a:xfrm>
            <a:off x="838200" y="365125"/>
            <a:ext cx="10515600" cy="66906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EG" dirty="0">
                <a:solidFill>
                  <a:srgbClr val="006499"/>
                </a:solidFill>
              </a:rPr>
              <a:t>Related Work 2/2 : </a:t>
            </a:r>
          </a:p>
        </p:txBody>
      </p:sp>
      <p:sp>
        <p:nvSpPr>
          <p:cNvPr id="12" name="Content Placeholder 4">
            <a:extLst>
              <a:ext uri="{FF2B5EF4-FFF2-40B4-BE49-F238E27FC236}">
                <a16:creationId xmlns:a16="http://schemas.microsoft.com/office/drawing/2014/main" id="{D7514DE3-1A60-872B-A828-E0D37F5D8A4C}"/>
              </a:ext>
            </a:extLst>
          </p:cNvPr>
          <p:cNvSpPr>
            <a:spLocks noGrp="1"/>
          </p:cNvSpPr>
          <p:nvPr>
            <p:ph idx="1"/>
          </p:nvPr>
        </p:nvSpPr>
        <p:spPr>
          <a:xfrm>
            <a:off x="838200" y="1080172"/>
            <a:ext cx="10873636" cy="1897977"/>
          </a:xfrm>
        </p:spPr>
        <p:txBody>
          <a:bodyPr/>
          <a:lstStyle/>
          <a:p>
            <a:r>
              <a:rPr lang="en-US" sz="1800" dirty="0">
                <a:effectLst/>
                <a:latin typeface="URWPalladioL"/>
              </a:rPr>
              <a:t>Design a new deep learning model by integrating </a:t>
            </a:r>
            <a:r>
              <a:rPr lang="en-US" sz="1800" dirty="0" err="1">
                <a:effectLst/>
                <a:latin typeface="URWPalladioL"/>
              </a:rPr>
              <a:t>criss-cross</a:t>
            </a:r>
            <a:r>
              <a:rPr lang="en-US" sz="1800" dirty="0">
                <a:effectLst/>
                <a:latin typeface="URWPalladioL"/>
              </a:rPr>
              <a:t> attention and edge convolution to extract discriminative features from the skeleton sequence for action recognition </a:t>
            </a:r>
          </a:p>
          <a:p>
            <a:r>
              <a:rPr lang="en-US" sz="1800" dirty="0">
                <a:effectLst/>
                <a:latin typeface="URWPalladioL"/>
              </a:rPr>
              <a:t>UTD-MHAD and MSR-Action3D Datasets</a:t>
            </a:r>
          </a:p>
          <a:p>
            <a:r>
              <a:rPr lang="en-US" sz="1800" dirty="0">
                <a:effectLst/>
                <a:latin typeface="URWPalladioL"/>
              </a:rPr>
              <a:t>CNN</a:t>
            </a:r>
          </a:p>
          <a:p>
            <a:r>
              <a:rPr lang="en-US" sz="1800" dirty="0">
                <a:effectLst/>
                <a:latin typeface="URWPalladioL"/>
              </a:rPr>
              <a:t>The proposed method achieved average accuracies of 99.53% and 95.64% respectively.</a:t>
            </a:r>
            <a:endParaRPr lang="en-US" sz="800" dirty="0"/>
          </a:p>
          <a:p>
            <a:endParaRPr lang="en-US" sz="1000" dirty="0"/>
          </a:p>
          <a:p>
            <a:endParaRPr lang="en-US" sz="1200" dirty="0"/>
          </a:p>
        </p:txBody>
      </p:sp>
      <p:pic>
        <p:nvPicPr>
          <p:cNvPr id="14" name="Picture 13">
            <a:extLst>
              <a:ext uri="{FF2B5EF4-FFF2-40B4-BE49-F238E27FC236}">
                <a16:creationId xmlns:a16="http://schemas.microsoft.com/office/drawing/2014/main" id="{4B9B4A58-517C-3CB3-A9A6-0A40C5EA6A3F}"/>
              </a:ext>
            </a:extLst>
          </p:cNvPr>
          <p:cNvPicPr>
            <a:picLocks noChangeAspect="1"/>
          </p:cNvPicPr>
          <p:nvPr/>
        </p:nvPicPr>
        <p:blipFill rotWithShape="1">
          <a:blip r:embed="rId3"/>
          <a:srcRect l="9537" t="36263" r="9238" b="21339"/>
          <a:stretch/>
        </p:blipFill>
        <p:spPr>
          <a:xfrm>
            <a:off x="678875" y="2978149"/>
            <a:ext cx="7099788" cy="2993523"/>
          </a:xfrm>
          <a:prstGeom prst="rect">
            <a:avLst/>
          </a:prstGeom>
        </p:spPr>
      </p:pic>
      <p:pic>
        <p:nvPicPr>
          <p:cNvPr id="18" name="Picture 17">
            <a:extLst>
              <a:ext uri="{FF2B5EF4-FFF2-40B4-BE49-F238E27FC236}">
                <a16:creationId xmlns:a16="http://schemas.microsoft.com/office/drawing/2014/main" id="{68C8CD4C-C477-2802-E2B2-221841731623}"/>
              </a:ext>
            </a:extLst>
          </p:cNvPr>
          <p:cNvPicPr>
            <a:picLocks noChangeAspect="1"/>
          </p:cNvPicPr>
          <p:nvPr/>
        </p:nvPicPr>
        <p:blipFill rotWithShape="1">
          <a:blip r:embed="rId4"/>
          <a:srcRect l="27909" t="46685" r="10528" b="9235"/>
          <a:stretch/>
        </p:blipFill>
        <p:spPr>
          <a:xfrm>
            <a:off x="7937988" y="2978149"/>
            <a:ext cx="4171167" cy="2807035"/>
          </a:xfrm>
          <a:prstGeom prst="rect">
            <a:avLst/>
          </a:prstGeom>
        </p:spPr>
      </p:pic>
    </p:spTree>
    <p:extLst>
      <p:ext uri="{BB962C8B-B14F-4D97-AF65-F5344CB8AC3E}">
        <p14:creationId xmlns:p14="http://schemas.microsoft.com/office/powerpoint/2010/main" val="347929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1B0F9-AA6F-E2C9-ED0C-8A2D393C40F9}"/>
              </a:ext>
            </a:extLst>
          </p:cNvPr>
          <p:cNvSpPr>
            <a:spLocks noGrp="1"/>
          </p:cNvSpPr>
          <p:nvPr>
            <p:ph type="title"/>
          </p:nvPr>
        </p:nvSpPr>
        <p:spPr/>
        <p:txBody>
          <a:bodyPr/>
          <a:lstStyle/>
          <a:p>
            <a:r>
              <a:rPr lang="en-EG" dirty="0">
                <a:solidFill>
                  <a:srgbClr val="006499"/>
                </a:solidFill>
              </a:rPr>
              <a:t>Proposed Framework</a:t>
            </a:r>
          </a:p>
        </p:txBody>
      </p:sp>
      <p:pic>
        <p:nvPicPr>
          <p:cNvPr id="5" name="Content Placeholder 4">
            <a:extLst>
              <a:ext uri="{FF2B5EF4-FFF2-40B4-BE49-F238E27FC236}">
                <a16:creationId xmlns:a16="http://schemas.microsoft.com/office/drawing/2014/main" id="{DA33338B-86E8-7C1C-DFC9-290E6C383885}"/>
              </a:ext>
            </a:extLst>
          </p:cNvPr>
          <p:cNvPicPr>
            <a:picLocks noGrp="1" noChangeAspect="1"/>
          </p:cNvPicPr>
          <p:nvPr>
            <p:ph idx="1"/>
          </p:nvPr>
        </p:nvPicPr>
        <p:blipFill>
          <a:blip r:embed="rId3"/>
          <a:stretch>
            <a:fillRect/>
          </a:stretch>
        </p:blipFill>
        <p:spPr>
          <a:xfrm>
            <a:off x="604918" y="1979437"/>
            <a:ext cx="10982161" cy="3832964"/>
          </a:xfrm>
        </p:spPr>
      </p:pic>
      <p:sp>
        <p:nvSpPr>
          <p:cNvPr id="6" name="TextBox 5">
            <a:extLst>
              <a:ext uri="{FF2B5EF4-FFF2-40B4-BE49-F238E27FC236}">
                <a16:creationId xmlns:a16="http://schemas.microsoft.com/office/drawing/2014/main" id="{F1A075BC-5F9A-B2D3-162D-B87AA5EDE772}"/>
              </a:ext>
            </a:extLst>
          </p:cNvPr>
          <p:cNvSpPr txBox="1"/>
          <p:nvPr/>
        </p:nvSpPr>
        <p:spPr>
          <a:xfrm>
            <a:off x="5199791" y="5916484"/>
            <a:ext cx="1792414" cy="369332"/>
          </a:xfrm>
          <a:prstGeom prst="rect">
            <a:avLst/>
          </a:prstGeom>
          <a:noFill/>
        </p:spPr>
        <p:txBody>
          <a:bodyPr wrap="none" rtlCol="0">
            <a:spAutoFit/>
          </a:bodyPr>
          <a:lstStyle/>
          <a:p>
            <a:r>
              <a:rPr lang="en-EG" dirty="0"/>
              <a:t>System Overview</a:t>
            </a:r>
          </a:p>
        </p:txBody>
      </p:sp>
    </p:spTree>
    <p:extLst>
      <p:ext uri="{BB962C8B-B14F-4D97-AF65-F5344CB8AC3E}">
        <p14:creationId xmlns:p14="http://schemas.microsoft.com/office/powerpoint/2010/main" val="3025392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C2267-7D71-86A9-33C2-7C552A09438B}"/>
              </a:ext>
            </a:extLst>
          </p:cNvPr>
          <p:cNvSpPr>
            <a:spLocks noGrp="1"/>
          </p:cNvSpPr>
          <p:nvPr>
            <p:ph type="title"/>
          </p:nvPr>
        </p:nvSpPr>
        <p:spPr/>
        <p:txBody>
          <a:bodyPr/>
          <a:lstStyle/>
          <a:p>
            <a:r>
              <a:rPr lang="en-EG" dirty="0">
                <a:solidFill>
                  <a:srgbClr val="006499"/>
                </a:solidFill>
              </a:rPr>
              <a:t>Datasets</a:t>
            </a:r>
          </a:p>
        </p:txBody>
      </p:sp>
      <p:sp>
        <p:nvSpPr>
          <p:cNvPr id="4" name="Content Placeholder 3">
            <a:extLst>
              <a:ext uri="{FF2B5EF4-FFF2-40B4-BE49-F238E27FC236}">
                <a16:creationId xmlns:a16="http://schemas.microsoft.com/office/drawing/2014/main" id="{01D9F558-A7C3-4B9D-7C7C-501CB684EF3A}"/>
              </a:ext>
            </a:extLst>
          </p:cNvPr>
          <p:cNvSpPr>
            <a:spLocks noGrp="1"/>
          </p:cNvSpPr>
          <p:nvPr>
            <p:ph sz="half" idx="1"/>
          </p:nvPr>
        </p:nvSpPr>
        <p:spPr>
          <a:xfrm>
            <a:off x="838200" y="1825625"/>
            <a:ext cx="5181600" cy="2671219"/>
          </a:xfrm>
        </p:spPr>
        <p:txBody>
          <a:bodyPr>
            <a:normAutofit fontScale="92500" lnSpcReduction="10000"/>
          </a:bodyPr>
          <a:lstStyle/>
          <a:p>
            <a:r>
              <a:rPr lang="en-US" dirty="0">
                <a:solidFill>
                  <a:schemeClr val="accent2"/>
                </a:solidFill>
              </a:rPr>
              <a:t>UI-PRMD </a:t>
            </a:r>
            <a:r>
              <a:rPr lang="en-US" baseline="30000" dirty="0">
                <a:solidFill>
                  <a:schemeClr val="accent2"/>
                </a:solidFill>
              </a:rPr>
              <a:t>[5]</a:t>
            </a:r>
          </a:p>
          <a:p>
            <a:pPr lvl="1"/>
            <a:r>
              <a:rPr lang="en-US" sz="2400" b="0" i="0" u="none" strike="noStrike" kern="1200" dirty="0">
                <a:solidFill>
                  <a:schemeClr val="dk1"/>
                </a:solidFill>
                <a:effectLst/>
                <a:latin typeface="+mn-lt"/>
                <a:ea typeface="+mn-ea"/>
                <a:cs typeface="+mn-cs"/>
              </a:rPr>
              <a:t>10 exercises ,10  individuals repeated 10 times</a:t>
            </a:r>
          </a:p>
          <a:p>
            <a:pPr lvl="1"/>
            <a:r>
              <a:rPr lang="en-US" sz="2400" b="0" i="0" u="none" strike="noStrike" kern="1200" dirty="0">
                <a:solidFill>
                  <a:schemeClr val="dk1"/>
                </a:solidFill>
                <a:effectLst/>
                <a:latin typeface="+mn-lt"/>
                <a:ea typeface="+mn-ea"/>
                <a:cs typeface="+mn-cs"/>
              </a:rPr>
              <a:t>Vicon optical tracker, and a Kinect camera</a:t>
            </a:r>
          </a:p>
          <a:p>
            <a:pPr lvl="1"/>
            <a:r>
              <a:rPr lang="en-US" dirty="0">
                <a:solidFill>
                  <a:srgbClr val="000000"/>
                </a:solidFill>
                <a:latin typeface="Palatino Linotype" panose="02040502050505030304" pitchFamily="18" charset="0"/>
              </a:rPr>
              <a:t>The data include the motion measurement for 22 joints</a:t>
            </a:r>
          </a:p>
          <a:p>
            <a:pPr lvl="1"/>
            <a:r>
              <a:rPr lang="en-US" dirty="0">
                <a:solidFill>
                  <a:srgbClr val="000000"/>
                </a:solidFill>
                <a:latin typeface="Palatino Linotype" panose="02040502050505030304" pitchFamily="18" charset="0"/>
              </a:rPr>
              <a:t>Text Files</a:t>
            </a:r>
            <a:endParaRPr lang="ar-SA" dirty="0">
              <a:solidFill>
                <a:srgbClr val="000000"/>
              </a:solidFill>
              <a:latin typeface="Palatino Linotype" panose="02040502050505030304" pitchFamily="18" charset="0"/>
            </a:endParaRPr>
          </a:p>
          <a:p>
            <a:pPr marL="457200" lvl="1" indent="0">
              <a:buNone/>
            </a:pPr>
            <a:endParaRPr lang="en-EG" dirty="0"/>
          </a:p>
          <a:p>
            <a:pPr lvl="1"/>
            <a:endParaRPr lang="en-EG" dirty="0"/>
          </a:p>
        </p:txBody>
      </p:sp>
      <p:sp>
        <p:nvSpPr>
          <p:cNvPr id="5" name="Content Placeholder 4">
            <a:extLst>
              <a:ext uri="{FF2B5EF4-FFF2-40B4-BE49-F238E27FC236}">
                <a16:creationId xmlns:a16="http://schemas.microsoft.com/office/drawing/2014/main" id="{5EC5929F-EFB9-F452-B641-7151D382CB59}"/>
              </a:ext>
            </a:extLst>
          </p:cNvPr>
          <p:cNvSpPr>
            <a:spLocks noGrp="1"/>
          </p:cNvSpPr>
          <p:nvPr>
            <p:ph sz="half" idx="2"/>
          </p:nvPr>
        </p:nvSpPr>
        <p:spPr/>
        <p:txBody>
          <a:bodyPr>
            <a:normAutofit fontScale="92500" lnSpcReduction="10000"/>
          </a:bodyPr>
          <a:lstStyle/>
          <a:p>
            <a:r>
              <a:rPr lang="en-US" dirty="0">
                <a:solidFill>
                  <a:schemeClr val="accent2"/>
                </a:solidFill>
              </a:rPr>
              <a:t>Collected Dataset</a:t>
            </a:r>
          </a:p>
          <a:p>
            <a:pPr lvl="1"/>
            <a:r>
              <a:rPr lang="en-US" dirty="0"/>
              <a:t>3 exercises, 1 individual repeated 7 times</a:t>
            </a:r>
          </a:p>
          <a:p>
            <a:pPr lvl="2"/>
            <a:r>
              <a:rPr lang="en-US" sz="1600" dirty="0"/>
              <a:t>Mini squat – Sit to stand – Straight leg raise</a:t>
            </a:r>
            <a:endParaRPr lang="en-US" dirty="0"/>
          </a:p>
          <a:p>
            <a:pPr lvl="1"/>
            <a:r>
              <a:rPr lang="en-US" dirty="0"/>
              <a:t>RGB camera</a:t>
            </a:r>
          </a:p>
          <a:p>
            <a:pPr lvl="1"/>
            <a:r>
              <a:rPr lang="en-US" dirty="0"/>
              <a:t>Video Files</a:t>
            </a:r>
          </a:p>
          <a:p>
            <a:pPr lvl="1"/>
            <a:r>
              <a:rPr lang="en-US" dirty="0"/>
              <a:t>Extracted 33 body joints</a:t>
            </a:r>
            <a:endParaRPr lang="en-EG" dirty="0"/>
          </a:p>
        </p:txBody>
      </p:sp>
      <p:pic>
        <p:nvPicPr>
          <p:cNvPr id="7" name="Picture 6">
            <a:extLst>
              <a:ext uri="{FF2B5EF4-FFF2-40B4-BE49-F238E27FC236}">
                <a16:creationId xmlns:a16="http://schemas.microsoft.com/office/drawing/2014/main" id="{F2EE50D3-87DF-257A-1DEA-36EDFA09B31A}"/>
              </a:ext>
            </a:extLst>
          </p:cNvPr>
          <p:cNvPicPr>
            <a:picLocks noChangeAspect="1"/>
          </p:cNvPicPr>
          <p:nvPr/>
        </p:nvPicPr>
        <p:blipFill>
          <a:blip r:embed="rId3"/>
          <a:stretch>
            <a:fillRect/>
          </a:stretch>
        </p:blipFill>
        <p:spPr>
          <a:xfrm>
            <a:off x="1212477" y="4367216"/>
            <a:ext cx="4430510" cy="2490784"/>
          </a:xfrm>
          <a:prstGeom prst="rect">
            <a:avLst/>
          </a:prstGeom>
        </p:spPr>
      </p:pic>
      <p:pic>
        <p:nvPicPr>
          <p:cNvPr id="3" name="Picture 2">
            <a:extLst>
              <a:ext uri="{FF2B5EF4-FFF2-40B4-BE49-F238E27FC236}">
                <a16:creationId xmlns:a16="http://schemas.microsoft.com/office/drawing/2014/main" id="{DAAD2651-0774-0715-BEB7-7BC4AAC2CC88}"/>
              </a:ext>
            </a:extLst>
          </p:cNvPr>
          <p:cNvPicPr>
            <a:picLocks noChangeAspect="1"/>
          </p:cNvPicPr>
          <p:nvPr/>
        </p:nvPicPr>
        <p:blipFill rotWithShape="1">
          <a:blip r:embed="rId4"/>
          <a:srcRect l="3039" t="9177" r="42255" b="42588"/>
          <a:stretch/>
        </p:blipFill>
        <p:spPr>
          <a:xfrm>
            <a:off x="6637020" y="4441033"/>
            <a:ext cx="4251960" cy="2343150"/>
          </a:xfrm>
          <a:prstGeom prst="rect">
            <a:avLst/>
          </a:prstGeom>
        </p:spPr>
      </p:pic>
    </p:spTree>
    <p:extLst>
      <p:ext uri="{BB962C8B-B14F-4D97-AF65-F5344CB8AC3E}">
        <p14:creationId xmlns:p14="http://schemas.microsoft.com/office/powerpoint/2010/main" val="309951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52F5-2C15-25BF-DB45-2665941195CB}"/>
              </a:ext>
            </a:extLst>
          </p:cNvPr>
          <p:cNvSpPr>
            <a:spLocks noGrp="1"/>
          </p:cNvSpPr>
          <p:nvPr>
            <p:ph type="title"/>
          </p:nvPr>
        </p:nvSpPr>
        <p:spPr/>
        <p:txBody>
          <a:bodyPr/>
          <a:lstStyle/>
          <a:p>
            <a:r>
              <a:rPr lang="en-EG" dirty="0">
                <a:solidFill>
                  <a:srgbClr val="006499"/>
                </a:solidFill>
              </a:rPr>
              <a:t>Preprocessing</a:t>
            </a:r>
          </a:p>
        </p:txBody>
      </p:sp>
      <p:sp>
        <p:nvSpPr>
          <p:cNvPr id="3" name="Content Placeholder 2">
            <a:extLst>
              <a:ext uri="{FF2B5EF4-FFF2-40B4-BE49-F238E27FC236}">
                <a16:creationId xmlns:a16="http://schemas.microsoft.com/office/drawing/2014/main" id="{DC25037C-3B97-BF91-EC6E-30B8124BB93E}"/>
              </a:ext>
            </a:extLst>
          </p:cNvPr>
          <p:cNvSpPr>
            <a:spLocks noGrp="1"/>
          </p:cNvSpPr>
          <p:nvPr>
            <p:ph sz="half" idx="1"/>
          </p:nvPr>
        </p:nvSpPr>
        <p:spPr/>
        <p:txBody>
          <a:bodyPr>
            <a:normAutofit lnSpcReduction="10000"/>
          </a:bodyPr>
          <a:lstStyle/>
          <a:p>
            <a:r>
              <a:rPr lang="en-US" dirty="0"/>
              <a:t>The Kinect Camera captures 22 body joints are stored in a vector </a:t>
            </a:r>
            <a:r>
              <a:rPr lang="en-US" i="1" dirty="0">
                <a:solidFill>
                  <a:srgbClr val="006499"/>
                </a:solidFill>
              </a:rPr>
              <a:t>V</a:t>
            </a:r>
            <a:r>
              <a:rPr lang="en-US" dirty="0"/>
              <a:t>. </a:t>
            </a:r>
          </a:p>
          <a:p>
            <a:pPr lvl="1"/>
            <a:r>
              <a:rPr lang="en-US" dirty="0"/>
              <a:t>At each time point </a:t>
            </a:r>
            <a:r>
              <a:rPr lang="en-US" i="1" dirty="0">
                <a:solidFill>
                  <a:srgbClr val="006499"/>
                </a:solidFill>
              </a:rPr>
              <a:t>t</a:t>
            </a:r>
            <a:r>
              <a:rPr lang="en-US" dirty="0"/>
              <a:t>, </a:t>
            </a:r>
          </a:p>
          <a:p>
            <a:pPr lvl="1"/>
            <a:r>
              <a:rPr lang="en-US" dirty="0"/>
              <a:t>The three-dimensional coordinates </a:t>
            </a:r>
            <a:r>
              <a:rPr lang="en-US" i="1" dirty="0" err="1">
                <a:solidFill>
                  <a:srgbClr val="006499"/>
                </a:solidFill>
              </a:rPr>
              <a:t>x</a:t>
            </a:r>
            <a:r>
              <a:rPr lang="en-US" i="1" baseline="-25000" dirty="0" err="1">
                <a:solidFill>
                  <a:srgbClr val="006499"/>
                </a:solidFill>
              </a:rPr>
              <a:t>t</a:t>
            </a:r>
            <a:r>
              <a:rPr lang="en-US" i="1" dirty="0"/>
              <a:t>, </a:t>
            </a:r>
            <a:r>
              <a:rPr lang="en-US" i="1" dirty="0" err="1">
                <a:solidFill>
                  <a:srgbClr val="006499"/>
                </a:solidFill>
              </a:rPr>
              <a:t>y</a:t>
            </a:r>
            <a:r>
              <a:rPr lang="en-US" i="1" baseline="-25000" dirty="0" err="1">
                <a:solidFill>
                  <a:srgbClr val="006499"/>
                </a:solidFill>
              </a:rPr>
              <a:t>t</a:t>
            </a:r>
            <a:r>
              <a:rPr lang="en-US" dirty="0"/>
              <a:t>, and </a:t>
            </a:r>
            <a:r>
              <a:rPr lang="en-US" i="1" dirty="0" err="1">
                <a:solidFill>
                  <a:srgbClr val="006499"/>
                </a:solidFill>
              </a:rPr>
              <a:t>z</a:t>
            </a:r>
            <a:r>
              <a:rPr lang="en-US" i="1" baseline="-25000" dirty="0" err="1">
                <a:solidFill>
                  <a:srgbClr val="006499"/>
                </a:solidFill>
              </a:rPr>
              <a:t>t</a:t>
            </a:r>
            <a:r>
              <a:rPr lang="en-US" dirty="0"/>
              <a:t> of each joint data </a:t>
            </a:r>
            <a:r>
              <a:rPr lang="en-US" i="1" dirty="0">
                <a:solidFill>
                  <a:srgbClr val="006499"/>
                </a:solidFill>
              </a:rPr>
              <a:t>J</a:t>
            </a:r>
            <a:r>
              <a:rPr lang="en-US" i="1" baseline="-25000" dirty="0">
                <a:solidFill>
                  <a:srgbClr val="006499"/>
                </a:solidFill>
              </a:rPr>
              <a:t>n</a:t>
            </a:r>
            <a:r>
              <a:rPr lang="en-US" dirty="0"/>
              <a:t>. </a:t>
            </a:r>
          </a:p>
          <a:p>
            <a:r>
              <a:rPr lang="en-US" dirty="0"/>
              <a:t>Face joints were deemed irrelevant for classifying the exercises and were discarded</a:t>
            </a:r>
          </a:p>
          <a:p>
            <a:pPr lvl="1"/>
            <a:r>
              <a:rPr lang="en-US" dirty="0"/>
              <a:t> in our collected dataset</a:t>
            </a:r>
          </a:p>
          <a:p>
            <a:pPr lvl="2"/>
            <a:endParaRPr lang="en-US" dirty="0"/>
          </a:p>
        </p:txBody>
      </p:sp>
      <p:sp>
        <p:nvSpPr>
          <p:cNvPr id="6" name="Content Placeholder 5">
            <a:extLst>
              <a:ext uri="{FF2B5EF4-FFF2-40B4-BE49-F238E27FC236}">
                <a16:creationId xmlns:a16="http://schemas.microsoft.com/office/drawing/2014/main" id="{B05CA6D5-8ACD-AE42-56F0-43913580F719}"/>
              </a:ext>
            </a:extLst>
          </p:cNvPr>
          <p:cNvSpPr>
            <a:spLocks noGrp="1"/>
          </p:cNvSpPr>
          <p:nvPr>
            <p:ph sz="half" idx="2"/>
          </p:nvPr>
        </p:nvSpPr>
        <p:spPr/>
        <p:txBody>
          <a:bodyPr>
            <a:normAutofit lnSpcReduction="10000"/>
          </a:bodyPr>
          <a:lstStyle/>
          <a:p>
            <a:endParaRPr lang="en-EG"/>
          </a:p>
        </p:txBody>
      </p:sp>
      <p:pic>
        <p:nvPicPr>
          <p:cNvPr id="5" name="Picture 4">
            <a:extLst>
              <a:ext uri="{FF2B5EF4-FFF2-40B4-BE49-F238E27FC236}">
                <a16:creationId xmlns:a16="http://schemas.microsoft.com/office/drawing/2014/main" id="{A2996926-9BAC-DF8E-CFD5-19D600A837BA}"/>
              </a:ext>
            </a:extLst>
          </p:cNvPr>
          <p:cNvPicPr>
            <a:picLocks noChangeAspect="1"/>
          </p:cNvPicPr>
          <p:nvPr/>
        </p:nvPicPr>
        <p:blipFill>
          <a:blip r:embed="rId3"/>
          <a:stretch>
            <a:fillRect/>
          </a:stretch>
        </p:blipFill>
        <p:spPr>
          <a:xfrm>
            <a:off x="6172200" y="1690687"/>
            <a:ext cx="5151072" cy="4486275"/>
          </a:xfrm>
          <a:prstGeom prst="rect">
            <a:avLst/>
          </a:prstGeom>
        </p:spPr>
      </p:pic>
    </p:spTree>
    <p:extLst>
      <p:ext uri="{BB962C8B-B14F-4D97-AF65-F5344CB8AC3E}">
        <p14:creationId xmlns:p14="http://schemas.microsoft.com/office/powerpoint/2010/main" val="377985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6730E-6BEC-2AE3-EE48-0C321E7DD7AE}"/>
              </a:ext>
            </a:extLst>
          </p:cNvPr>
          <p:cNvSpPr>
            <a:spLocks noGrp="1"/>
          </p:cNvSpPr>
          <p:nvPr>
            <p:ph type="title"/>
          </p:nvPr>
        </p:nvSpPr>
        <p:spPr/>
        <p:txBody>
          <a:bodyPr/>
          <a:lstStyle/>
          <a:p>
            <a:r>
              <a:rPr lang="en-EG" dirty="0">
                <a:solidFill>
                  <a:srgbClr val="006499"/>
                </a:solidFill>
              </a:rPr>
              <a:t>Feature Engineering</a:t>
            </a:r>
          </a:p>
        </p:txBody>
      </p:sp>
      <p:sp>
        <p:nvSpPr>
          <p:cNvPr id="3" name="Content Placeholder 2">
            <a:extLst>
              <a:ext uri="{FF2B5EF4-FFF2-40B4-BE49-F238E27FC236}">
                <a16:creationId xmlns:a16="http://schemas.microsoft.com/office/drawing/2014/main" id="{A4B5CAB3-A85B-5309-E6DB-690E911ABB4C}"/>
              </a:ext>
            </a:extLst>
          </p:cNvPr>
          <p:cNvSpPr>
            <a:spLocks noGrp="1"/>
          </p:cNvSpPr>
          <p:nvPr>
            <p:ph idx="1"/>
          </p:nvPr>
        </p:nvSpPr>
        <p:spPr/>
        <p:txBody>
          <a:bodyPr>
            <a:normAutofit/>
          </a:bodyPr>
          <a:lstStyle/>
          <a:p>
            <a:r>
              <a:rPr lang="en-US" dirty="0"/>
              <a:t>Feature extraction algorithms are applied to process these joints</a:t>
            </a:r>
          </a:p>
          <a:p>
            <a:pPr lvl="1"/>
            <a:r>
              <a:rPr lang="en-US" dirty="0"/>
              <a:t>5 Statistical techniques are utilized  including :</a:t>
            </a:r>
            <a:br>
              <a:rPr lang="en-US" dirty="0"/>
            </a:br>
            <a:r>
              <a:rPr lang="en-US" dirty="0"/>
              <a:t>Standard deviation, maximum, median, mean, and minimum </a:t>
            </a:r>
          </a:p>
          <a:p>
            <a:pPr lvl="1"/>
            <a:r>
              <a:rPr lang="en-US" dirty="0"/>
              <a:t>which produced 330 features in total.</a:t>
            </a:r>
          </a:p>
          <a:p>
            <a:r>
              <a:rPr lang="en-US" dirty="0"/>
              <a:t>FCBF algorithm was employed to rank and select the most significant features.</a:t>
            </a:r>
          </a:p>
          <a:p>
            <a:r>
              <a:rPr lang="en-US" dirty="0"/>
              <a:t>The model selected the top 20 features and discarded the rest.</a:t>
            </a:r>
          </a:p>
          <a:p>
            <a:r>
              <a:rPr lang="en-US" dirty="0"/>
              <a:t>It was found that the feature importance score either plateaued or rapidly decreased after the 20th feature.</a:t>
            </a:r>
          </a:p>
        </p:txBody>
      </p:sp>
    </p:spTree>
    <p:extLst>
      <p:ext uri="{BB962C8B-B14F-4D97-AF65-F5344CB8AC3E}">
        <p14:creationId xmlns:p14="http://schemas.microsoft.com/office/powerpoint/2010/main" val="45073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iterate type="lt">
                                    <p:tmAbs val="0"/>
                                  </p:iterate>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mph" presetSubtype="0" fill="hold" nodeType="clickEffect">
                                  <p:stCondLst>
                                    <p:cond delay="0"/>
                                  </p:stCondLst>
                                  <p:iterate type="lt">
                                    <p:tmPct val="4000"/>
                                  </p:iterate>
                                  <p:childTnLst>
                                    <p:set>
                                      <p:cBhvr override="childStyle">
                                        <p:cTn id="14" dur="500" fill="hold"/>
                                        <p:tgtEl>
                                          <p:spTgt spid="3">
                                            <p:txEl>
                                              <p:pRg st="1" end="1"/>
                                            </p:txEl>
                                          </p:spTgt>
                                        </p:tgtEl>
                                        <p:attrNameLst>
                                          <p:attrName>style.color</p:attrName>
                                        </p:attrNameLst>
                                      </p:cBhvr>
                                      <p:to>
                                        <p:clrVal>
                                          <a:schemeClr val="accent2"/>
                                        </p:clrVal>
                                      </p:to>
                                    </p:set>
                                    <p:set>
                                      <p:cBhvr>
                                        <p:cTn id="15" dur="500" fill="hold"/>
                                        <p:tgtEl>
                                          <p:spTgt spid="3">
                                            <p:txEl>
                                              <p:pRg st="1" end="1"/>
                                            </p:txEl>
                                          </p:spTgt>
                                        </p:tgtEl>
                                        <p:attrNameLst>
                                          <p:attrName>fillcolor</p:attrName>
                                        </p:attrNameLst>
                                      </p:cBhvr>
                                      <p:to>
                                        <p:clrVal>
                                          <a:schemeClr val="accent2"/>
                                        </p:clrVal>
                                      </p:to>
                                    </p:set>
                                    <p:set>
                                      <p:cBhvr>
                                        <p:cTn id="16" dur="500" fill="hold"/>
                                        <p:tgtEl>
                                          <p:spTgt spid="3">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7D02C-EA75-0B02-11F9-F89E71110F1F}"/>
              </a:ext>
            </a:extLst>
          </p:cNvPr>
          <p:cNvSpPr>
            <a:spLocks noGrp="1"/>
          </p:cNvSpPr>
          <p:nvPr>
            <p:ph type="title"/>
          </p:nvPr>
        </p:nvSpPr>
        <p:spPr/>
        <p:txBody>
          <a:bodyPr/>
          <a:lstStyle/>
          <a:p>
            <a:r>
              <a:rPr lang="en-EG" dirty="0">
                <a:solidFill>
                  <a:srgbClr val="006499"/>
                </a:solidFill>
              </a:rPr>
              <a:t>Expierments</a:t>
            </a:r>
          </a:p>
        </p:txBody>
      </p:sp>
      <p:sp>
        <p:nvSpPr>
          <p:cNvPr id="3" name="Content Placeholder 2">
            <a:extLst>
              <a:ext uri="{FF2B5EF4-FFF2-40B4-BE49-F238E27FC236}">
                <a16:creationId xmlns:a16="http://schemas.microsoft.com/office/drawing/2014/main" id="{5AE8F99D-FD82-9EE3-BCC8-D8BE2C3E0FE7}"/>
              </a:ext>
            </a:extLst>
          </p:cNvPr>
          <p:cNvSpPr>
            <a:spLocks noGrp="1"/>
          </p:cNvSpPr>
          <p:nvPr>
            <p:ph idx="1"/>
          </p:nvPr>
        </p:nvSpPr>
        <p:spPr/>
        <p:txBody>
          <a:bodyPr/>
          <a:lstStyle/>
          <a:p>
            <a:r>
              <a:rPr lang="en-EG" dirty="0"/>
              <a:t>Exp. 1 </a:t>
            </a:r>
          </a:p>
          <a:p>
            <a:pPr lvl="1"/>
            <a:r>
              <a:rPr lang="en-EG" dirty="0"/>
              <a:t>was conducted to </a:t>
            </a:r>
            <a:r>
              <a:rPr lang="en-US" dirty="0"/>
              <a:t>evaluate the performance of the Extra Trees classifier for action recognition on the UI-PRMD dataset, after applying FCBF feature selection.</a:t>
            </a:r>
          </a:p>
          <a:p>
            <a:r>
              <a:rPr lang="en-US" dirty="0"/>
              <a:t>Exp. 2. </a:t>
            </a:r>
          </a:p>
          <a:p>
            <a:pPr lvl="1"/>
            <a:r>
              <a:rPr lang="en-US" dirty="0"/>
              <a:t>was conducted using our proprietary dataset in a real clinic setting to showcase the system's practicality and effectiveness in real time using only RGB Camera.</a:t>
            </a:r>
            <a:endParaRPr lang="en-EG" dirty="0"/>
          </a:p>
        </p:txBody>
      </p:sp>
    </p:spTree>
    <p:extLst>
      <p:ext uri="{BB962C8B-B14F-4D97-AF65-F5344CB8AC3E}">
        <p14:creationId xmlns:p14="http://schemas.microsoft.com/office/powerpoint/2010/main" val="281728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A675-BE71-F4D8-EF0A-3AB7CAE1D311}"/>
              </a:ext>
            </a:extLst>
          </p:cNvPr>
          <p:cNvSpPr>
            <a:spLocks noGrp="1"/>
          </p:cNvSpPr>
          <p:nvPr>
            <p:ph type="title"/>
          </p:nvPr>
        </p:nvSpPr>
        <p:spPr/>
        <p:txBody>
          <a:bodyPr/>
          <a:lstStyle/>
          <a:p>
            <a:r>
              <a:rPr lang="en-EG" dirty="0">
                <a:solidFill>
                  <a:srgbClr val="006499"/>
                </a:solidFill>
              </a:rPr>
              <a:t>Used Algorithms 1 of 2</a:t>
            </a:r>
          </a:p>
        </p:txBody>
      </p:sp>
      <p:sp>
        <p:nvSpPr>
          <p:cNvPr id="3" name="Content Placeholder 2">
            <a:extLst>
              <a:ext uri="{FF2B5EF4-FFF2-40B4-BE49-F238E27FC236}">
                <a16:creationId xmlns:a16="http://schemas.microsoft.com/office/drawing/2014/main" id="{A9709E10-278E-03B1-DF3D-CC4ECCADB255}"/>
              </a:ext>
            </a:extLst>
          </p:cNvPr>
          <p:cNvSpPr>
            <a:spLocks noGrp="1"/>
          </p:cNvSpPr>
          <p:nvPr>
            <p:ph idx="1"/>
          </p:nvPr>
        </p:nvSpPr>
        <p:spPr/>
        <p:txBody>
          <a:bodyPr/>
          <a:lstStyle/>
          <a:p>
            <a:r>
              <a:rPr lang="en-EG" dirty="0">
                <a:solidFill>
                  <a:schemeClr val="accent2"/>
                </a:solidFill>
              </a:rPr>
              <a:t>Extra Tree</a:t>
            </a:r>
          </a:p>
          <a:p>
            <a:pPr lvl="1"/>
            <a:r>
              <a:rPr lang="en-US" dirty="0"/>
              <a:t>a tree-based ensemble technique used in machine learning</a:t>
            </a:r>
            <a:r>
              <a:rPr lang="en-EG" dirty="0"/>
              <a:t>.</a:t>
            </a:r>
          </a:p>
          <a:p>
            <a:pPr lvl="1"/>
            <a:r>
              <a:rPr lang="en-US" dirty="0"/>
              <a:t>Extra Trees builds decision trees using the entire dataset.</a:t>
            </a:r>
            <a:endParaRPr lang="en-EG" dirty="0"/>
          </a:p>
          <a:p>
            <a:pPr lvl="1"/>
            <a:r>
              <a:rPr lang="en-US" dirty="0"/>
              <a:t>Trees demonstrate significantly faster performance</a:t>
            </a:r>
            <a:r>
              <a:rPr lang="en-EG" dirty="0"/>
              <a:t> </a:t>
            </a:r>
            <a:r>
              <a:rPr lang="en-EG" baseline="30000" dirty="0"/>
              <a:t>[6] [7]</a:t>
            </a:r>
            <a:r>
              <a:rPr lang="en-US" dirty="0"/>
              <a:t> .</a:t>
            </a:r>
            <a:endParaRPr lang="en-EG" baseline="30000" dirty="0"/>
          </a:p>
          <a:p>
            <a:pPr lvl="1"/>
            <a:r>
              <a:rPr lang="en-US" dirty="0"/>
              <a:t>Instead of the greedy approach used in Random Forest, Extra Trees randomly select split values for features.</a:t>
            </a:r>
            <a:endParaRPr lang="en-EG" dirty="0"/>
          </a:p>
        </p:txBody>
      </p:sp>
    </p:spTree>
    <p:extLst>
      <p:ext uri="{BB962C8B-B14F-4D97-AF65-F5344CB8AC3E}">
        <p14:creationId xmlns:p14="http://schemas.microsoft.com/office/powerpoint/2010/main" val="2412035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A675-BE71-F4D8-EF0A-3AB7CAE1D311}"/>
              </a:ext>
            </a:extLst>
          </p:cNvPr>
          <p:cNvSpPr>
            <a:spLocks noGrp="1"/>
          </p:cNvSpPr>
          <p:nvPr>
            <p:ph type="title"/>
          </p:nvPr>
        </p:nvSpPr>
        <p:spPr/>
        <p:txBody>
          <a:bodyPr/>
          <a:lstStyle/>
          <a:p>
            <a:r>
              <a:rPr lang="en-EG" dirty="0">
                <a:solidFill>
                  <a:srgbClr val="006499"/>
                </a:solidFill>
              </a:rPr>
              <a:t>Used Algorithms 2 of 2</a:t>
            </a:r>
          </a:p>
        </p:txBody>
      </p:sp>
      <p:sp>
        <p:nvSpPr>
          <p:cNvPr id="3" name="Content Placeholder 2">
            <a:extLst>
              <a:ext uri="{FF2B5EF4-FFF2-40B4-BE49-F238E27FC236}">
                <a16:creationId xmlns:a16="http://schemas.microsoft.com/office/drawing/2014/main" id="{A9709E10-278E-03B1-DF3D-CC4ECCADB255}"/>
              </a:ext>
            </a:extLst>
          </p:cNvPr>
          <p:cNvSpPr>
            <a:spLocks noGrp="1"/>
          </p:cNvSpPr>
          <p:nvPr>
            <p:ph idx="1"/>
          </p:nvPr>
        </p:nvSpPr>
        <p:spPr/>
        <p:txBody>
          <a:bodyPr>
            <a:normAutofit/>
          </a:bodyPr>
          <a:lstStyle/>
          <a:p>
            <a:r>
              <a:rPr lang="en-US" dirty="0">
                <a:solidFill>
                  <a:schemeClr val="accent2"/>
                </a:solidFill>
              </a:rPr>
              <a:t>One Dollar</a:t>
            </a:r>
          </a:p>
          <a:p>
            <a:pPr lvl="1"/>
            <a:r>
              <a:rPr lang="en-US" dirty="0"/>
              <a:t>also known as the 1$ gesture recognition algorithm.</a:t>
            </a:r>
          </a:p>
          <a:p>
            <a:pPr lvl="1"/>
            <a:r>
              <a:rPr lang="en-US" dirty="0"/>
              <a:t>This algorithm converts a gesture into a sequence of points and then calculates the minimum distance between the gesture and a set of predefined templates.</a:t>
            </a:r>
          </a:p>
          <a:p>
            <a:pPr lvl="1"/>
            <a:r>
              <a:rPr lang="en-US" dirty="0"/>
              <a:t>The One Dollar algorithm typically uses two-dimensional (x, y) </a:t>
            </a:r>
          </a:p>
          <a:p>
            <a:pPr lvl="2"/>
            <a:r>
              <a:rPr lang="en-US" dirty="0"/>
              <a:t>However, in this study, the joint coordinates were extracted in 3D.</a:t>
            </a:r>
          </a:p>
          <a:p>
            <a:pPr lvl="2"/>
            <a:r>
              <a:rPr lang="en-US" dirty="0"/>
              <a:t>To overcome this, the X and Y coordinates were summed to create a new X value, while the Z coordinate was assigned to Y. Thus, the data in the tuples were represented as (</a:t>
            </a:r>
            <a:r>
              <a:rPr lang="en-US" dirty="0" err="1"/>
              <a:t>x+y</a:t>
            </a:r>
            <a:r>
              <a:rPr lang="en-US" dirty="0"/>
              <a:t>, z) format.</a:t>
            </a:r>
          </a:p>
          <a:p>
            <a:pPr lvl="1"/>
            <a:r>
              <a:rPr lang="en-US" dirty="0"/>
              <a:t>Due to the limited number of videos in the dataset, the One Dollar algorithm was chosen for this research.</a:t>
            </a:r>
            <a:endParaRPr lang="en-EG" dirty="0"/>
          </a:p>
        </p:txBody>
      </p:sp>
    </p:spTree>
    <p:extLst>
      <p:ext uri="{BB962C8B-B14F-4D97-AF65-F5344CB8AC3E}">
        <p14:creationId xmlns:p14="http://schemas.microsoft.com/office/powerpoint/2010/main" val="2059236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7D02C-EA75-0B02-11F9-F89E71110F1F}"/>
              </a:ext>
            </a:extLst>
          </p:cNvPr>
          <p:cNvSpPr>
            <a:spLocks noGrp="1"/>
          </p:cNvSpPr>
          <p:nvPr>
            <p:ph type="title"/>
          </p:nvPr>
        </p:nvSpPr>
        <p:spPr/>
        <p:txBody>
          <a:bodyPr/>
          <a:lstStyle/>
          <a:p>
            <a:r>
              <a:rPr lang="en-EG" dirty="0">
                <a:solidFill>
                  <a:srgbClr val="006499"/>
                </a:solidFill>
              </a:rPr>
              <a:t>Expierments 1 of 2</a:t>
            </a:r>
          </a:p>
        </p:txBody>
      </p:sp>
      <p:sp>
        <p:nvSpPr>
          <p:cNvPr id="3" name="Content Placeholder 2">
            <a:extLst>
              <a:ext uri="{FF2B5EF4-FFF2-40B4-BE49-F238E27FC236}">
                <a16:creationId xmlns:a16="http://schemas.microsoft.com/office/drawing/2014/main" id="{5AE8F99D-FD82-9EE3-BCC8-D8BE2C3E0FE7}"/>
              </a:ext>
            </a:extLst>
          </p:cNvPr>
          <p:cNvSpPr>
            <a:spLocks noGrp="1"/>
          </p:cNvSpPr>
          <p:nvPr>
            <p:ph idx="1"/>
          </p:nvPr>
        </p:nvSpPr>
        <p:spPr/>
        <p:txBody>
          <a:bodyPr/>
          <a:lstStyle/>
          <a:p>
            <a:pPr marL="514350" indent="-514350">
              <a:buFont typeface="+mj-lt"/>
              <a:buAutoNum type="arabicPeriod"/>
            </a:pPr>
            <a:r>
              <a:rPr lang="en-US" dirty="0"/>
              <a:t>Feature Extraction for 22 body joints.</a:t>
            </a:r>
          </a:p>
          <a:p>
            <a:pPr marL="514350" indent="-514350">
              <a:buFont typeface="+mj-lt"/>
              <a:buAutoNum type="arabicPeriod"/>
            </a:pPr>
            <a:r>
              <a:rPr lang="en-US" dirty="0"/>
              <a:t>Ranked and Selected only the top 20 features.</a:t>
            </a:r>
          </a:p>
          <a:p>
            <a:pPr marL="514350" indent="-514350">
              <a:buFont typeface="+mj-lt"/>
              <a:buAutoNum type="arabicPeriod"/>
            </a:pPr>
            <a:r>
              <a:rPr lang="en-US" dirty="0"/>
              <a:t>The data was split into 70- 30  for training and testing. </a:t>
            </a:r>
          </a:p>
          <a:p>
            <a:pPr marL="514350" indent="-514350">
              <a:buFont typeface="+mj-lt"/>
              <a:buAutoNum type="arabicPeriod"/>
            </a:pPr>
            <a:r>
              <a:rPr lang="en-US" dirty="0"/>
              <a:t>10 iterations.</a:t>
            </a:r>
          </a:p>
          <a:p>
            <a:pPr marL="514350" indent="-514350">
              <a:buFont typeface="+mj-lt"/>
              <a:buAutoNum type="arabicPeriod"/>
            </a:pPr>
            <a:r>
              <a:rPr lang="en-US" dirty="0"/>
              <a:t>Applied a cross-validation function with 30 folds.</a:t>
            </a:r>
            <a:endParaRPr lang="en-EG" dirty="0"/>
          </a:p>
        </p:txBody>
      </p:sp>
    </p:spTree>
    <p:extLst>
      <p:ext uri="{BB962C8B-B14F-4D97-AF65-F5344CB8AC3E}">
        <p14:creationId xmlns:p14="http://schemas.microsoft.com/office/powerpoint/2010/main" val="429288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7D02C-EA75-0B02-11F9-F89E71110F1F}"/>
              </a:ext>
            </a:extLst>
          </p:cNvPr>
          <p:cNvSpPr>
            <a:spLocks noGrp="1"/>
          </p:cNvSpPr>
          <p:nvPr>
            <p:ph type="title"/>
          </p:nvPr>
        </p:nvSpPr>
        <p:spPr/>
        <p:txBody>
          <a:bodyPr/>
          <a:lstStyle/>
          <a:p>
            <a:r>
              <a:rPr lang="en-EG" dirty="0">
                <a:solidFill>
                  <a:srgbClr val="006499"/>
                </a:solidFill>
              </a:rPr>
              <a:t>Expierments 2 of 2</a:t>
            </a:r>
          </a:p>
        </p:txBody>
      </p:sp>
      <p:sp>
        <p:nvSpPr>
          <p:cNvPr id="3" name="Content Placeholder 2">
            <a:extLst>
              <a:ext uri="{FF2B5EF4-FFF2-40B4-BE49-F238E27FC236}">
                <a16:creationId xmlns:a16="http://schemas.microsoft.com/office/drawing/2014/main" id="{5AE8F99D-FD82-9EE3-BCC8-D8BE2C3E0FE7}"/>
              </a:ext>
            </a:extLst>
          </p:cNvPr>
          <p:cNvSpPr>
            <a:spLocks noGrp="1"/>
          </p:cNvSpPr>
          <p:nvPr>
            <p:ph idx="1"/>
          </p:nvPr>
        </p:nvSpPr>
        <p:spPr/>
        <p:txBody>
          <a:bodyPr/>
          <a:lstStyle/>
          <a:p>
            <a:pPr marL="514350" indent="-514350">
              <a:buFont typeface="+mj-lt"/>
              <a:buAutoNum type="arabicPeriod"/>
            </a:pPr>
            <a:r>
              <a:rPr lang="en-US" dirty="0"/>
              <a:t>Feature Extraction for 33 body joints.</a:t>
            </a:r>
          </a:p>
          <a:p>
            <a:pPr marL="514350" indent="-514350">
              <a:buFont typeface="+mj-lt"/>
              <a:buAutoNum type="arabicPeriod"/>
            </a:pPr>
            <a:r>
              <a:rPr lang="en-US" dirty="0"/>
              <a:t>Face landmarks were excluded.</a:t>
            </a:r>
          </a:p>
          <a:p>
            <a:pPr marL="514350" indent="-514350">
              <a:buFont typeface="+mj-lt"/>
              <a:buAutoNum type="arabicPeriod"/>
            </a:pPr>
            <a:r>
              <a:rPr lang="en-US" dirty="0"/>
              <a:t>Ranked and Selected only the top 20 features.</a:t>
            </a:r>
          </a:p>
          <a:p>
            <a:pPr marL="514350" indent="-514350">
              <a:buFont typeface="+mj-lt"/>
              <a:buAutoNum type="arabicPeriod"/>
            </a:pPr>
            <a:r>
              <a:rPr lang="en-US" dirty="0"/>
              <a:t>(</a:t>
            </a:r>
            <a:r>
              <a:rPr lang="en-US" dirty="0" err="1"/>
              <a:t>x+y</a:t>
            </a:r>
            <a:r>
              <a:rPr lang="en-US" dirty="0"/>
              <a:t>, z)</a:t>
            </a:r>
          </a:p>
          <a:p>
            <a:pPr marL="514350" indent="-514350">
              <a:buFont typeface="+mj-lt"/>
              <a:buAutoNum type="arabicPeriod"/>
            </a:pPr>
            <a:r>
              <a:rPr lang="en-US" dirty="0"/>
              <a:t>1, 2 , and 3 videos used for training , 4 for testing. </a:t>
            </a:r>
          </a:p>
        </p:txBody>
      </p:sp>
    </p:spTree>
    <p:extLst>
      <p:ext uri="{BB962C8B-B14F-4D97-AF65-F5344CB8AC3E}">
        <p14:creationId xmlns:p14="http://schemas.microsoft.com/office/powerpoint/2010/main" val="346584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B413E-7246-B385-B272-83ACDF34C993}"/>
              </a:ext>
            </a:extLst>
          </p:cNvPr>
          <p:cNvSpPr>
            <a:spLocks noGrp="1"/>
          </p:cNvSpPr>
          <p:nvPr>
            <p:ph type="title"/>
          </p:nvPr>
        </p:nvSpPr>
        <p:spPr/>
        <p:txBody>
          <a:bodyPr/>
          <a:lstStyle/>
          <a:p>
            <a:r>
              <a:rPr lang="en-EG" dirty="0">
                <a:solidFill>
                  <a:srgbClr val="006499"/>
                </a:solidFill>
              </a:rPr>
              <a:t>Results</a:t>
            </a:r>
            <a:r>
              <a:rPr lang="en-EG" dirty="0"/>
              <a:t> </a:t>
            </a:r>
          </a:p>
        </p:txBody>
      </p:sp>
      <p:graphicFrame>
        <p:nvGraphicFramePr>
          <p:cNvPr id="4" name="Table 4">
            <a:extLst>
              <a:ext uri="{FF2B5EF4-FFF2-40B4-BE49-F238E27FC236}">
                <a16:creationId xmlns:a16="http://schemas.microsoft.com/office/drawing/2014/main" id="{7DF2197A-5489-48DB-07A8-BB049A2CBA52}"/>
              </a:ext>
            </a:extLst>
          </p:cNvPr>
          <p:cNvGraphicFramePr>
            <a:graphicFrameLocks noGrp="1"/>
          </p:cNvGraphicFramePr>
          <p:nvPr>
            <p:ph idx="1"/>
            <p:extLst>
              <p:ext uri="{D42A27DB-BD31-4B8C-83A1-F6EECF244321}">
                <p14:modId xmlns:p14="http://schemas.microsoft.com/office/powerpoint/2010/main" val="1687065844"/>
              </p:ext>
            </p:extLst>
          </p:nvPr>
        </p:nvGraphicFramePr>
        <p:xfrm>
          <a:off x="1074000" y="1945640"/>
          <a:ext cx="10043999" cy="1483360"/>
        </p:xfrm>
        <a:graphic>
          <a:graphicData uri="http://schemas.openxmlformats.org/drawingml/2006/table">
            <a:tbl>
              <a:tblPr firstRow="1" bandRow="1">
                <a:tableStyleId>{5C22544A-7EE6-4342-B048-85BDC9FD1C3A}</a:tableStyleId>
              </a:tblPr>
              <a:tblGrid>
                <a:gridCol w="2418567">
                  <a:extLst>
                    <a:ext uri="{9D8B030D-6E8A-4147-A177-3AD203B41FA5}">
                      <a16:colId xmlns:a16="http://schemas.microsoft.com/office/drawing/2014/main" val="361586917"/>
                    </a:ext>
                  </a:extLst>
                </a:gridCol>
                <a:gridCol w="1906358">
                  <a:extLst>
                    <a:ext uri="{9D8B030D-6E8A-4147-A177-3AD203B41FA5}">
                      <a16:colId xmlns:a16="http://schemas.microsoft.com/office/drawing/2014/main" val="3924815952"/>
                    </a:ext>
                  </a:extLst>
                </a:gridCol>
                <a:gridCol w="1906358">
                  <a:extLst>
                    <a:ext uri="{9D8B030D-6E8A-4147-A177-3AD203B41FA5}">
                      <a16:colId xmlns:a16="http://schemas.microsoft.com/office/drawing/2014/main" val="4117553979"/>
                    </a:ext>
                  </a:extLst>
                </a:gridCol>
                <a:gridCol w="1906358">
                  <a:extLst>
                    <a:ext uri="{9D8B030D-6E8A-4147-A177-3AD203B41FA5}">
                      <a16:colId xmlns:a16="http://schemas.microsoft.com/office/drawing/2014/main" val="3276638273"/>
                    </a:ext>
                  </a:extLst>
                </a:gridCol>
                <a:gridCol w="1906358">
                  <a:extLst>
                    <a:ext uri="{9D8B030D-6E8A-4147-A177-3AD203B41FA5}">
                      <a16:colId xmlns:a16="http://schemas.microsoft.com/office/drawing/2014/main" val="400509320"/>
                    </a:ext>
                  </a:extLst>
                </a:gridCol>
              </a:tblGrid>
              <a:tr h="370840">
                <a:tc>
                  <a:txBody>
                    <a:bodyPr/>
                    <a:lstStyle/>
                    <a:p>
                      <a:r>
                        <a:rPr lang="en-EG" dirty="0"/>
                        <a:t>Number of Templates</a:t>
                      </a:r>
                    </a:p>
                  </a:txBody>
                  <a:tcPr/>
                </a:tc>
                <a:tc>
                  <a:txBody>
                    <a:bodyPr/>
                    <a:lstStyle/>
                    <a:p>
                      <a:r>
                        <a:rPr lang="en-EG" dirty="0"/>
                        <a:t>Accuracy</a:t>
                      </a:r>
                    </a:p>
                  </a:txBody>
                  <a:tcPr/>
                </a:tc>
                <a:tc>
                  <a:txBody>
                    <a:bodyPr/>
                    <a:lstStyle/>
                    <a:p>
                      <a:r>
                        <a:rPr lang="en-EG" dirty="0"/>
                        <a:t>Precision</a:t>
                      </a:r>
                    </a:p>
                  </a:txBody>
                  <a:tcPr/>
                </a:tc>
                <a:tc>
                  <a:txBody>
                    <a:bodyPr/>
                    <a:lstStyle/>
                    <a:p>
                      <a:r>
                        <a:rPr lang="en-EG" dirty="0"/>
                        <a:t>Recall</a:t>
                      </a:r>
                    </a:p>
                  </a:txBody>
                  <a:tcPr/>
                </a:tc>
                <a:tc>
                  <a:txBody>
                    <a:bodyPr/>
                    <a:lstStyle/>
                    <a:p>
                      <a:r>
                        <a:rPr lang="en-EG" dirty="0"/>
                        <a:t>F1 Score</a:t>
                      </a:r>
                    </a:p>
                  </a:txBody>
                  <a:tcPr/>
                </a:tc>
                <a:extLst>
                  <a:ext uri="{0D108BD9-81ED-4DB2-BD59-A6C34878D82A}">
                    <a16:rowId xmlns:a16="http://schemas.microsoft.com/office/drawing/2014/main" val="1260139789"/>
                  </a:ext>
                </a:extLst>
              </a:tr>
              <a:tr h="370840">
                <a:tc>
                  <a:txBody>
                    <a:bodyPr/>
                    <a:lstStyle/>
                    <a:p>
                      <a:r>
                        <a:rPr lang="en-EG" dirty="0"/>
                        <a:t>One</a:t>
                      </a:r>
                    </a:p>
                  </a:txBody>
                  <a:tcPr/>
                </a:tc>
                <a:tc>
                  <a:txBody>
                    <a:bodyPr/>
                    <a:lstStyle/>
                    <a:p>
                      <a:r>
                        <a:rPr lang="en-EG" dirty="0"/>
                        <a:t>72%</a:t>
                      </a:r>
                    </a:p>
                  </a:txBody>
                  <a:tcPr/>
                </a:tc>
                <a:tc>
                  <a:txBody>
                    <a:bodyPr/>
                    <a:lstStyle/>
                    <a:p>
                      <a:r>
                        <a:rPr lang="en-EG" dirty="0"/>
                        <a:t>74.5%</a:t>
                      </a:r>
                    </a:p>
                  </a:txBody>
                  <a:tcPr/>
                </a:tc>
                <a:tc>
                  <a:txBody>
                    <a:bodyPr/>
                    <a:lstStyle/>
                    <a:p>
                      <a:r>
                        <a:rPr lang="en-EG" dirty="0"/>
                        <a:t>72%</a:t>
                      </a:r>
                    </a:p>
                  </a:txBody>
                  <a:tcPr/>
                </a:tc>
                <a:tc>
                  <a:txBody>
                    <a:bodyPr/>
                    <a:lstStyle/>
                    <a:p>
                      <a:r>
                        <a:rPr lang="en-EG" dirty="0"/>
                        <a:t>70.4%</a:t>
                      </a:r>
                    </a:p>
                  </a:txBody>
                  <a:tcPr/>
                </a:tc>
                <a:extLst>
                  <a:ext uri="{0D108BD9-81ED-4DB2-BD59-A6C34878D82A}">
                    <a16:rowId xmlns:a16="http://schemas.microsoft.com/office/drawing/2014/main" val="1366721966"/>
                  </a:ext>
                </a:extLst>
              </a:tr>
              <a:tr h="370840">
                <a:tc>
                  <a:txBody>
                    <a:bodyPr/>
                    <a:lstStyle/>
                    <a:p>
                      <a:r>
                        <a:rPr lang="en-EG" dirty="0"/>
                        <a:t>Two</a:t>
                      </a:r>
                    </a:p>
                  </a:txBody>
                  <a:tcPr/>
                </a:tc>
                <a:tc>
                  <a:txBody>
                    <a:bodyPr/>
                    <a:lstStyle/>
                    <a:p>
                      <a:r>
                        <a:rPr lang="en-EG" dirty="0"/>
                        <a:t>88%</a:t>
                      </a:r>
                    </a:p>
                  </a:txBody>
                  <a:tcPr/>
                </a:tc>
                <a:tc>
                  <a:txBody>
                    <a:bodyPr/>
                    <a:lstStyle/>
                    <a:p>
                      <a:r>
                        <a:rPr lang="en-EG" dirty="0"/>
                        <a:t>93%</a:t>
                      </a:r>
                    </a:p>
                  </a:txBody>
                  <a:tcPr/>
                </a:tc>
                <a:tc>
                  <a:txBody>
                    <a:bodyPr/>
                    <a:lstStyle/>
                    <a:p>
                      <a:r>
                        <a:rPr lang="en-EG" dirty="0"/>
                        <a:t>88%</a:t>
                      </a:r>
                    </a:p>
                  </a:txBody>
                  <a:tcPr/>
                </a:tc>
                <a:tc>
                  <a:txBody>
                    <a:bodyPr/>
                    <a:lstStyle/>
                    <a:p>
                      <a:r>
                        <a:rPr lang="en-EG" dirty="0"/>
                        <a:t>87.9%</a:t>
                      </a:r>
                    </a:p>
                  </a:txBody>
                  <a:tcPr/>
                </a:tc>
                <a:extLst>
                  <a:ext uri="{0D108BD9-81ED-4DB2-BD59-A6C34878D82A}">
                    <a16:rowId xmlns:a16="http://schemas.microsoft.com/office/drawing/2014/main" val="1293202994"/>
                  </a:ext>
                </a:extLst>
              </a:tr>
              <a:tr h="370840">
                <a:tc>
                  <a:txBody>
                    <a:bodyPr/>
                    <a:lstStyle/>
                    <a:p>
                      <a:r>
                        <a:rPr lang="en-EG" b="1" i="1" dirty="0">
                          <a:solidFill>
                            <a:srgbClr val="FF0000"/>
                          </a:solidFill>
                        </a:rPr>
                        <a:t>Three</a:t>
                      </a:r>
                    </a:p>
                  </a:txBody>
                  <a:tcPr/>
                </a:tc>
                <a:tc>
                  <a:txBody>
                    <a:bodyPr/>
                    <a:lstStyle/>
                    <a:p>
                      <a:r>
                        <a:rPr lang="en-EG" b="1" i="1" dirty="0"/>
                        <a:t>90%</a:t>
                      </a:r>
                    </a:p>
                  </a:txBody>
                  <a:tcPr/>
                </a:tc>
                <a:tc>
                  <a:txBody>
                    <a:bodyPr/>
                    <a:lstStyle/>
                    <a:p>
                      <a:r>
                        <a:rPr lang="en-EG" b="1" i="1" dirty="0"/>
                        <a:t>93.8%</a:t>
                      </a:r>
                    </a:p>
                  </a:txBody>
                  <a:tcPr/>
                </a:tc>
                <a:tc>
                  <a:txBody>
                    <a:bodyPr/>
                    <a:lstStyle/>
                    <a:p>
                      <a:r>
                        <a:rPr lang="en-EG" b="1" i="1" dirty="0"/>
                        <a:t>90%</a:t>
                      </a:r>
                    </a:p>
                  </a:txBody>
                  <a:tcPr/>
                </a:tc>
                <a:tc>
                  <a:txBody>
                    <a:bodyPr/>
                    <a:lstStyle/>
                    <a:p>
                      <a:r>
                        <a:rPr lang="en-EG" b="1" i="1" dirty="0"/>
                        <a:t>90.1%</a:t>
                      </a:r>
                    </a:p>
                  </a:txBody>
                  <a:tcPr/>
                </a:tc>
                <a:extLst>
                  <a:ext uri="{0D108BD9-81ED-4DB2-BD59-A6C34878D82A}">
                    <a16:rowId xmlns:a16="http://schemas.microsoft.com/office/drawing/2014/main" val="1822090772"/>
                  </a:ext>
                </a:extLst>
              </a:tr>
            </a:tbl>
          </a:graphicData>
        </a:graphic>
      </p:graphicFrame>
      <p:sp>
        <p:nvSpPr>
          <p:cNvPr id="5" name="TextBox 4">
            <a:extLst>
              <a:ext uri="{FF2B5EF4-FFF2-40B4-BE49-F238E27FC236}">
                <a16:creationId xmlns:a16="http://schemas.microsoft.com/office/drawing/2014/main" id="{A402ABBF-79DE-DE1B-BCD4-71678B01ADB7}"/>
              </a:ext>
            </a:extLst>
          </p:cNvPr>
          <p:cNvSpPr txBox="1"/>
          <p:nvPr/>
        </p:nvSpPr>
        <p:spPr>
          <a:xfrm>
            <a:off x="1129414" y="3683952"/>
            <a:ext cx="9933168" cy="369332"/>
          </a:xfrm>
          <a:prstGeom prst="rect">
            <a:avLst/>
          </a:prstGeom>
          <a:noFill/>
        </p:spPr>
        <p:txBody>
          <a:bodyPr wrap="none" rtlCol="0">
            <a:spAutoFit/>
          </a:bodyPr>
          <a:lstStyle/>
          <a:p>
            <a:r>
              <a:rPr lang="en-EG" dirty="0"/>
              <a:t>Evaluation of 1$ algorithm based on different evaluation metrics for different number of templates used</a:t>
            </a:r>
          </a:p>
        </p:txBody>
      </p:sp>
      <p:graphicFrame>
        <p:nvGraphicFramePr>
          <p:cNvPr id="6" name="Table 6">
            <a:extLst>
              <a:ext uri="{FF2B5EF4-FFF2-40B4-BE49-F238E27FC236}">
                <a16:creationId xmlns:a16="http://schemas.microsoft.com/office/drawing/2014/main" id="{B9553D77-FF42-11B8-DF9F-F98077751B04}"/>
              </a:ext>
            </a:extLst>
          </p:cNvPr>
          <p:cNvGraphicFramePr>
            <a:graphicFrameLocks noGrp="1"/>
          </p:cNvGraphicFramePr>
          <p:nvPr>
            <p:extLst>
              <p:ext uri="{D42A27DB-BD31-4B8C-83A1-F6EECF244321}">
                <p14:modId xmlns:p14="http://schemas.microsoft.com/office/powerpoint/2010/main" val="2191327423"/>
              </p:ext>
            </p:extLst>
          </p:nvPr>
        </p:nvGraphicFramePr>
        <p:xfrm>
          <a:off x="1074000" y="4411833"/>
          <a:ext cx="10044000" cy="1112520"/>
        </p:xfrm>
        <a:graphic>
          <a:graphicData uri="http://schemas.openxmlformats.org/drawingml/2006/table">
            <a:tbl>
              <a:tblPr firstRow="1" bandRow="1">
                <a:tableStyleId>{5C22544A-7EE6-4342-B048-85BDC9FD1C3A}</a:tableStyleId>
              </a:tblPr>
              <a:tblGrid>
                <a:gridCol w="2322064">
                  <a:extLst>
                    <a:ext uri="{9D8B030D-6E8A-4147-A177-3AD203B41FA5}">
                      <a16:colId xmlns:a16="http://schemas.microsoft.com/office/drawing/2014/main" val="3772311811"/>
                    </a:ext>
                  </a:extLst>
                </a:gridCol>
                <a:gridCol w="1930484">
                  <a:extLst>
                    <a:ext uri="{9D8B030D-6E8A-4147-A177-3AD203B41FA5}">
                      <a16:colId xmlns:a16="http://schemas.microsoft.com/office/drawing/2014/main" val="2650818801"/>
                    </a:ext>
                  </a:extLst>
                </a:gridCol>
                <a:gridCol w="1930484">
                  <a:extLst>
                    <a:ext uri="{9D8B030D-6E8A-4147-A177-3AD203B41FA5}">
                      <a16:colId xmlns:a16="http://schemas.microsoft.com/office/drawing/2014/main" val="3685406733"/>
                    </a:ext>
                  </a:extLst>
                </a:gridCol>
                <a:gridCol w="1930484">
                  <a:extLst>
                    <a:ext uri="{9D8B030D-6E8A-4147-A177-3AD203B41FA5}">
                      <a16:colId xmlns:a16="http://schemas.microsoft.com/office/drawing/2014/main" val="43692622"/>
                    </a:ext>
                  </a:extLst>
                </a:gridCol>
                <a:gridCol w="1930484">
                  <a:extLst>
                    <a:ext uri="{9D8B030D-6E8A-4147-A177-3AD203B41FA5}">
                      <a16:colId xmlns:a16="http://schemas.microsoft.com/office/drawing/2014/main" val="2075508159"/>
                    </a:ext>
                  </a:extLst>
                </a:gridCol>
              </a:tblGrid>
              <a:tr h="370840">
                <a:tc>
                  <a:txBody>
                    <a:bodyPr/>
                    <a:lstStyle/>
                    <a:p>
                      <a:r>
                        <a:rPr lang="en-EG" dirty="0"/>
                        <a:t>Algorithm</a:t>
                      </a:r>
                    </a:p>
                  </a:txBody>
                  <a:tcPr/>
                </a:tc>
                <a:tc>
                  <a:txBody>
                    <a:bodyPr/>
                    <a:lstStyle/>
                    <a:p>
                      <a:r>
                        <a:rPr lang="en-EG" dirty="0"/>
                        <a:t>Accuracy</a:t>
                      </a:r>
                    </a:p>
                  </a:txBody>
                  <a:tcPr/>
                </a:tc>
                <a:tc>
                  <a:txBody>
                    <a:bodyPr/>
                    <a:lstStyle/>
                    <a:p>
                      <a:r>
                        <a:rPr lang="en-EG" dirty="0"/>
                        <a:t>Precision</a:t>
                      </a:r>
                    </a:p>
                  </a:txBody>
                  <a:tcPr/>
                </a:tc>
                <a:tc>
                  <a:txBody>
                    <a:bodyPr/>
                    <a:lstStyle/>
                    <a:p>
                      <a:r>
                        <a:rPr lang="en-EG" dirty="0"/>
                        <a:t>Recall</a:t>
                      </a:r>
                    </a:p>
                  </a:txBody>
                  <a:tcPr/>
                </a:tc>
                <a:tc>
                  <a:txBody>
                    <a:bodyPr/>
                    <a:lstStyle/>
                    <a:p>
                      <a:r>
                        <a:rPr lang="en-EG" dirty="0"/>
                        <a:t>F1 Score</a:t>
                      </a:r>
                    </a:p>
                  </a:txBody>
                  <a:tcPr/>
                </a:tc>
                <a:extLst>
                  <a:ext uri="{0D108BD9-81ED-4DB2-BD59-A6C34878D82A}">
                    <a16:rowId xmlns:a16="http://schemas.microsoft.com/office/drawing/2014/main" val="4176593643"/>
                  </a:ext>
                </a:extLst>
              </a:tr>
              <a:tr h="370840">
                <a:tc>
                  <a:txBody>
                    <a:bodyPr/>
                    <a:lstStyle/>
                    <a:p>
                      <a:r>
                        <a:rPr lang="en-EG" b="1" i="1" dirty="0">
                          <a:solidFill>
                            <a:srgbClr val="FF0000"/>
                          </a:solidFill>
                        </a:rPr>
                        <a:t>Extra Tree</a:t>
                      </a:r>
                    </a:p>
                  </a:txBody>
                  <a:tcPr/>
                </a:tc>
                <a:tc>
                  <a:txBody>
                    <a:bodyPr/>
                    <a:lstStyle/>
                    <a:p>
                      <a:r>
                        <a:rPr lang="en-EG" b="1" i="1" dirty="0"/>
                        <a:t>99.64%</a:t>
                      </a:r>
                    </a:p>
                  </a:txBody>
                  <a:tcPr/>
                </a:tc>
                <a:tc>
                  <a:txBody>
                    <a:bodyPr/>
                    <a:lstStyle/>
                    <a:p>
                      <a:r>
                        <a:rPr lang="en-EG" b="1" i="1" dirty="0"/>
                        <a:t>99.74%</a:t>
                      </a:r>
                    </a:p>
                  </a:txBody>
                  <a:tcPr/>
                </a:tc>
                <a:tc>
                  <a:txBody>
                    <a:bodyPr/>
                    <a:lstStyle/>
                    <a:p>
                      <a:r>
                        <a:rPr lang="en-EG" b="1" i="1" dirty="0"/>
                        <a:t>99.64%</a:t>
                      </a:r>
                    </a:p>
                  </a:txBody>
                  <a:tcPr/>
                </a:tc>
                <a:tc>
                  <a:txBody>
                    <a:bodyPr/>
                    <a:lstStyle/>
                    <a:p>
                      <a:r>
                        <a:rPr lang="en-EG" b="1" i="1" dirty="0"/>
                        <a:t>99.62%</a:t>
                      </a:r>
                    </a:p>
                  </a:txBody>
                  <a:tcPr/>
                </a:tc>
                <a:extLst>
                  <a:ext uri="{0D108BD9-81ED-4DB2-BD59-A6C34878D82A}">
                    <a16:rowId xmlns:a16="http://schemas.microsoft.com/office/drawing/2014/main" val="4000611135"/>
                  </a:ext>
                </a:extLst>
              </a:tr>
              <a:tr h="370840">
                <a:tc>
                  <a:txBody>
                    <a:bodyPr/>
                    <a:lstStyle/>
                    <a:p>
                      <a:r>
                        <a:rPr lang="en-EG" dirty="0"/>
                        <a:t>One Dollar</a:t>
                      </a:r>
                    </a:p>
                  </a:txBody>
                  <a:tcPr/>
                </a:tc>
                <a:tc>
                  <a:txBody>
                    <a:bodyPr/>
                    <a:lstStyle/>
                    <a:p>
                      <a:r>
                        <a:rPr lang="en-EG" dirty="0"/>
                        <a:t>90%</a:t>
                      </a:r>
                    </a:p>
                  </a:txBody>
                  <a:tcPr/>
                </a:tc>
                <a:tc>
                  <a:txBody>
                    <a:bodyPr/>
                    <a:lstStyle/>
                    <a:p>
                      <a:r>
                        <a:rPr lang="en-EG" dirty="0"/>
                        <a:t>93.8%</a:t>
                      </a:r>
                    </a:p>
                  </a:txBody>
                  <a:tcPr/>
                </a:tc>
                <a:tc>
                  <a:txBody>
                    <a:bodyPr/>
                    <a:lstStyle/>
                    <a:p>
                      <a:r>
                        <a:rPr lang="en-EG" dirty="0"/>
                        <a:t>90%</a:t>
                      </a:r>
                    </a:p>
                  </a:txBody>
                  <a:tcPr/>
                </a:tc>
                <a:tc>
                  <a:txBody>
                    <a:bodyPr/>
                    <a:lstStyle/>
                    <a:p>
                      <a:r>
                        <a:rPr lang="en-EG" dirty="0"/>
                        <a:t>90.1%</a:t>
                      </a:r>
                    </a:p>
                  </a:txBody>
                  <a:tcPr/>
                </a:tc>
                <a:extLst>
                  <a:ext uri="{0D108BD9-81ED-4DB2-BD59-A6C34878D82A}">
                    <a16:rowId xmlns:a16="http://schemas.microsoft.com/office/drawing/2014/main" val="2249866924"/>
                  </a:ext>
                </a:extLst>
              </a:tr>
            </a:tbl>
          </a:graphicData>
        </a:graphic>
      </p:graphicFrame>
      <p:sp>
        <p:nvSpPr>
          <p:cNvPr id="7" name="TextBox 6">
            <a:extLst>
              <a:ext uri="{FF2B5EF4-FFF2-40B4-BE49-F238E27FC236}">
                <a16:creationId xmlns:a16="http://schemas.microsoft.com/office/drawing/2014/main" id="{33A444B3-13ED-9B45-0AD1-A01449C0112A}"/>
              </a:ext>
            </a:extLst>
          </p:cNvPr>
          <p:cNvSpPr txBox="1"/>
          <p:nvPr/>
        </p:nvSpPr>
        <p:spPr>
          <a:xfrm>
            <a:off x="2655890" y="5669026"/>
            <a:ext cx="6880217" cy="369332"/>
          </a:xfrm>
          <a:prstGeom prst="rect">
            <a:avLst/>
          </a:prstGeom>
          <a:noFill/>
        </p:spPr>
        <p:txBody>
          <a:bodyPr wrap="none" rtlCol="0">
            <a:spAutoFit/>
          </a:bodyPr>
          <a:lstStyle/>
          <a:p>
            <a:r>
              <a:rPr lang="en-EG" dirty="0"/>
              <a:t>Evaluation of different algorithms based on different evaluation metrics</a:t>
            </a:r>
          </a:p>
        </p:txBody>
      </p:sp>
    </p:spTree>
    <p:extLst>
      <p:ext uri="{BB962C8B-B14F-4D97-AF65-F5344CB8AC3E}">
        <p14:creationId xmlns:p14="http://schemas.microsoft.com/office/powerpoint/2010/main" val="349419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7B90-A95C-72C4-CAEA-CCCF42705C79}"/>
              </a:ext>
            </a:extLst>
          </p:cNvPr>
          <p:cNvSpPr>
            <a:spLocks noGrp="1"/>
          </p:cNvSpPr>
          <p:nvPr>
            <p:ph type="title"/>
          </p:nvPr>
        </p:nvSpPr>
        <p:spPr/>
        <p:txBody>
          <a:bodyPr/>
          <a:lstStyle/>
          <a:p>
            <a:r>
              <a:rPr lang="en-EG" dirty="0">
                <a:solidFill>
                  <a:srgbClr val="006499"/>
                </a:solidFill>
              </a:rPr>
              <a:t>Conclusion</a:t>
            </a:r>
          </a:p>
        </p:txBody>
      </p:sp>
      <p:sp>
        <p:nvSpPr>
          <p:cNvPr id="3" name="Content Placeholder 2">
            <a:extLst>
              <a:ext uri="{FF2B5EF4-FFF2-40B4-BE49-F238E27FC236}">
                <a16:creationId xmlns:a16="http://schemas.microsoft.com/office/drawing/2014/main" id="{9050396E-438B-F7C2-F55B-85A72FADC15F}"/>
              </a:ext>
            </a:extLst>
          </p:cNvPr>
          <p:cNvSpPr>
            <a:spLocks noGrp="1"/>
          </p:cNvSpPr>
          <p:nvPr>
            <p:ph idx="1"/>
          </p:nvPr>
        </p:nvSpPr>
        <p:spPr/>
        <p:txBody>
          <a:bodyPr>
            <a:normAutofit fontScale="92500" lnSpcReduction="10000"/>
          </a:bodyPr>
          <a:lstStyle/>
          <a:p>
            <a:r>
              <a:rPr lang="en-US" dirty="0"/>
              <a:t>The performance of the One Dollar algorithm is greatly affected by the number of templates employed for training, as higher numbers of templates for each exercise lead to better outcomes.</a:t>
            </a:r>
          </a:p>
          <a:p>
            <a:r>
              <a:rPr lang="en-US" dirty="0"/>
              <a:t>Extra Tree Classifier, outperformed the One Dollar algorithm in all four evaluation metrics</a:t>
            </a:r>
          </a:p>
          <a:p>
            <a:r>
              <a:rPr lang="en-US" dirty="0"/>
              <a:t>Despite having limited training data, the One Dollar algorithm still generated acceptable results.</a:t>
            </a:r>
          </a:p>
          <a:p>
            <a:r>
              <a:rPr lang="en-US" dirty="0"/>
              <a:t>The Encoding of the data greatly affects the results of the model.</a:t>
            </a:r>
          </a:p>
          <a:p>
            <a:r>
              <a:rPr lang="en-US" dirty="0"/>
              <a:t>Our Encoding achieved Best recorded results so far.</a:t>
            </a:r>
          </a:p>
          <a:p>
            <a:r>
              <a:rPr lang="en-US" dirty="0"/>
              <a:t>A limitation of the current pose detection model is its inability to handle scenarios where there are multiple individuals present within the frame</a:t>
            </a:r>
            <a:endParaRPr lang="en-EG" dirty="0"/>
          </a:p>
        </p:txBody>
      </p:sp>
    </p:spTree>
    <p:extLst>
      <p:ext uri="{BB962C8B-B14F-4D97-AF65-F5344CB8AC3E}">
        <p14:creationId xmlns:p14="http://schemas.microsoft.com/office/powerpoint/2010/main" val="375082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7B90-A95C-72C4-CAEA-CCCF42705C79}"/>
              </a:ext>
            </a:extLst>
          </p:cNvPr>
          <p:cNvSpPr>
            <a:spLocks noGrp="1"/>
          </p:cNvSpPr>
          <p:nvPr>
            <p:ph type="title"/>
          </p:nvPr>
        </p:nvSpPr>
        <p:spPr/>
        <p:txBody>
          <a:bodyPr/>
          <a:lstStyle/>
          <a:p>
            <a:r>
              <a:rPr lang="en-EG" dirty="0">
                <a:solidFill>
                  <a:srgbClr val="006499"/>
                </a:solidFill>
              </a:rPr>
              <a:t>Future Work</a:t>
            </a:r>
          </a:p>
        </p:txBody>
      </p:sp>
      <p:sp>
        <p:nvSpPr>
          <p:cNvPr id="3" name="Content Placeholder 2">
            <a:extLst>
              <a:ext uri="{FF2B5EF4-FFF2-40B4-BE49-F238E27FC236}">
                <a16:creationId xmlns:a16="http://schemas.microsoft.com/office/drawing/2014/main" id="{9050396E-438B-F7C2-F55B-85A72FADC15F}"/>
              </a:ext>
            </a:extLst>
          </p:cNvPr>
          <p:cNvSpPr>
            <a:spLocks noGrp="1"/>
          </p:cNvSpPr>
          <p:nvPr>
            <p:ph idx="1"/>
          </p:nvPr>
        </p:nvSpPr>
        <p:spPr/>
        <p:txBody>
          <a:bodyPr>
            <a:normAutofit lnSpcReduction="10000"/>
          </a:bodyPr>
          <a:lstStyle/>
          <a:p>
            <a:r>
              <a:rPr lang="en-US" dirty="0"/>
              <a:t>A limitation of the current pose detection model is its inability to handle scenarios where there are multiple individuals present within the frame.</a:t>
            </a:r>
          </a:p>
          <a:p>
            <a:r>
              <a:rPr lang="en-US" dirty="0"/>
              <a:t>This research has the potential for extension by incorporating wearable sensors in conjunction with the RGB camera to achieve enhanced precision in the results.</a:t>
            </a:r>
          </a:p>
          <a:p>
            <a:r>
              <a:rPr lang="en-US" dirty="0"/>
              <a:t>The application of various Deep Learning Algorithms with different hyperparameters can be explored to attain improved accuracy.</a:t>
            </a:r>
          </a:p>
          <a:p>
            <a:r>
              <a:rPr lang="en-US" dirty="0"/>
              <a:t>Employing ensemble learning techniques to combine a set of baseline models can lead to the generation of a more robust and powerful model.</a:t>
            </a:r>
            <a:endParaRPr lang="en-EG" dirty="0"/>
          </a:p>
        </p:txBody>
      </p:sp>
    </p:spTree>
    <p:extLst>
      <p:ext uri="{BB962C8B-B14F-4D97-AF65-F5344CB8AC3E}">
        <p14:creationId xmlns:p14="http://schemas.microsoft.com/office/powerpoint/2010/main" val="267216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503C1-1F0A-A45C-4580-4A6B653A2CC3}"/>
              </a:ext>
            </a:extLst>
          </p:cNvPr>
          <p:cNvSpPr>
            <a:spLocks noGrp="1"/>
          </p:cNvSpPr>
          <p:nvPr>
            <p:ph type="title"/>
          </p:nvPr>
        </p:nvSpPr>
        <p:spPr/>
        <p:txBody>
          <a:bodyPr/>
          <a:lstStyle/>
          <a:p>
            <a:r>
              <a:rPr lang="en-EG" dirty="0">
                <a:solidFill>
                  <a:srgbClr val="006499"/>
                </a:solidFill>
              </a:rPr>
              <a:t>Reference</a:t>
            </a:r>
          </a:p>
        </p:txBody>
      </p:sp>
      <p:sp>
        <p:nvSpPr>
          <p:cNvPr id="3" name="Content Placeholder 2">
            <a:extLst>
              <a:ext uri="{FF2B5EF4-FFF2-40B4-BE49-F238E27FC236}">
                <a16:creationId xmlns:a16="http://schemas.microsoft.com/office/drawing/2014/main" id="{7A4721DF-EDE8-FC57-C023-853F79C54EC0}"/>
              </a:ext>
            </a:extLst>
          </p:cNvPr>
          <p:cNvSpPr>
            <a:spLocks noGrp="1"/>
          </p:cNvSpPr>
          <p:nvPr>
            <p:ph idx="1"/>
          </p:nvPr>
        </p:nvSpPr>
        <p:spPr/>
        <p:txBody>
          <a:bodyPr>
            <a:normAutofit fontScale="32500" lnSpcReduction="20000"/>
          </a:bodyPr>
          <a:lstStyle/>
          <a:p>
            <a:pPr marL="311150" indent="-311150">
              <a:lnSpc>
                <a:spcPct val="120000"/>
              </a:lnSpc>
              <a:buFont typeface="+mj-lt"/>
              <a:buAutoNum type="arabicParenR"/>
            </a:pPr>
            <a:r>
              <a:rPr lang="en-US" sz="4000" dirty="0">
                <a:solidFill>
                  <a:schemeClr val="tx1">
                    <a:lumMod val="50000"/>
                    <a:lumOff val="50000"/>
                  </a:schemeClr>
                </a:solidFill>
                <a:latin typeface="Arial" panose="020B0604020202020204" pitchFamily="34" charset="0"/>
              </a:rPr>
              <a:t>W. H. Organization, “Rehabilitation.” Available online, 2023. Accessed on June 15, 2023.</a:t>
            </a:r>
          </a:p>
          <a:p>
            <a:pPr marL="311150" indent="-311150">
              <a:lnSpc>
                <a:spcPct val="120000"/>
              </a:lnSpc>
              <a:buFont typeface="+mj-lt"/>
              <a:buAutoNum type="arabicParenR"/>
            </a:pPr>
            <a:r>
              <a:rPr lang="en-US" sz="4000" dirty="0">
                <a:solidFill>
                  <a:schemeClr val="tx1">
                    <a:lumMod val="50000"/>
                    <a:lumOff val="50000"/>
                  </a:schemeClr>
                </a:solidFill>
                <a:latin typeface="Arial" panose="020B0604020202020204" pitchFamily="34" charset="0"/>
              </a:rPr>
              <a:t>B. Debnath, M. O’Brien, M. Yamaguchi, et al., “A review of computer vision-based approaches for physical rehabilitation and assessment,” Multimedia Systems, vol. 28, no. 2, pp. 209–239, 2022</a:t>
            </a:r>
          </a:p>
          <a:p>
            <a:pPr marL="311150" indent="-311150">
              <a:lnSpc>
                <a:spcPct val="120000"/>
              </a:lnSpc>
              <a:buFont typeface="+mj-lt"/>
              <a:buAutoNum type="arabicParenR"/>
            </a:pPr>
            <a:r>
              <a:rPr lang="en-US" sz="4000" dirty="0">
                <a:solidFill>
                  <a:schemeClr val="tx1">
                    <a:lumMod val="50000"/>
                    <a:lumOff val="50000"/>
                  </a:schemeClr>
                </a:solidFill>
                <a:latin typeface="Arial" panose="020B0604020202020204" pitchFamily="34" charset="0"/>
              </a:rPr>
              <a:t>F. A. Rashid, N. S. </a:t>
            </a:r>
            <a:r>
              <a:rPr lang="en-US" sz="4000" dirty="0" err="1">
                <a:solidFill>
                  <a:schemeClr val="tx1">
                    <a:lumMod val="50000"/>
                    <a:lumOff val="50000"/>
                  </a:schemeClr>
                </a:solidFill>
                <a:latin typeface="Arial" panose="020B0604020202020204" pitchFamily="34" charset="0"/>
              </a:rPr>
              <a:t>Suriani</a:t>
            </a:r>
            <a:r>
              <a:rPr lang="en-US" sz="4000" dirty="0">
                <a:solidFill>
                  <a:schemeClr val="tx1">
                    <a:lumMod val="50000"/>
                    <a:lumOff val="50000"/>
                  </a:schemeClr>
                </a:solidFill>
                <a:latin typeface="Arial" panose="020B0604020202020204" pitchFamily="34" charset="0"/>
              </a:rPr>
              <a:t>, M. N. </a:t>
            </a:r>
            <a:r>
              <a:rPr lang="en-US" sz="4000" dirty="0" err="1">
                <a:solidFill>
                  <a:schemeClr val="tx1">
                    <a:lumMod val="50000"/>
                    <a:lumOff val="50000"/>
                  </a:schemeClr>
                </a:solidFill>
                <a:latin typeface="Arial" panose="020B0604020202020204" pitchFamily="34" charset="0"/>
              </a:rPr>
              <a:t>Mohd</a:t>
            </a:r>
            <a:r>
              <a:rPr lang="en-US" sz="4000" dirty="0">
                <a:solidFill>
                  <a:schemeClr val="tx1">
                    <a:lumMod val="50000"/>
                    <a:lumOff val="50000"/>
                  </a:schemeClr>
                </a:solidFill>
                <a:latin typeface="Arial" panose="020B0604020202020204" pitchFamily="34" charset="0"/>
              </a:rPr>
              <a:t>, M. R. </a:t>
            </a:r>
            <a:r>
              <a:rPr lang="en-US" sz="4000" dirty="0" err="1">
                <a:solidFill>
                  <a:schemeClr val="tx1">
                    <a:lumMod val="50000"/>
                    <a:lumOff val="50000"/>
                  </a:schemeClr>
                </a:solidFill>
                <a:latin typeface="Arial" panose="020B0604020202020204" pitchFamily="34" charset="0"/>
              </a:rPr>
              <a:t>Tomari</a:t>
            </a:r>
            <a:r>
              <a:rPr lang="en-US" sz="4000" dirty="0">
                <a:solidFill>
                  <a:schemeClr val="tx1">
                    <a:lumMod val="50000"/>
                    <a:lumOff val="50000"/>
                  </a:schemeClr>
                </a:solidFill>
                <a:latin typeface="Arial" panose="020B0604020202020204" pitchFamily="34" charset="0"/>
              </a:rPr>
              <a:t>, W. N. W. Zakaria, and A. Nazari, “Deep convolutional network approach in spike train analysis of physiotherapy movements,” in Advances in Electronics Engineering: Proceedings of the ICCEE 2019, Kuala Lumpur, Malaysia, pp. 159–170, Springer Singapore, 2020</a:t>
            </a:r>
          </a:p>
          <a:p>
            <a:pPr marL="311150" indent="-311150">
              <a:lnSpc>
                <a:spcPct val="120000"/>
              </a:lnSpc>
              <a:buFont typeface="+mj-lt"/>
              <a:buAutoNum type="arabicParenR"/>
            </a:pPr>
            <a:r>
              <a:rPr lang="en-US" sz="4000" dirty="0">
                <a:solidFill>
                  <a:schemeClr val="tx1">
                    <a:lumMod val="50000"/>
                    <a:lumOff val="50000"/>
                  </a:schemeClr>
                </a:solidFill>
                <a:latin typeface="Arial" panose="020B0604020202020204" pitchFamily="34" charset="0"/>
              </a:rPr>
              <a:t>N. </a:t>
            </a:r>
            <a:r>
              <a:rPr lang="en-US" sz="4000" dirty="0" err="1">
                <a:solidFill>
                  <a:schemeClr val="tx1">
                    <a:lumMod val="50000"/>
                    <a:lumOff val="50000"/>
                  </a:schemeClr>
                </a:solidFill>
                <a:latin typeface="Arial" panose="020B0604020202020204" pitchFamily="34" charset="0"/>
              </a:rPr>
              <a:t>Tasnim</a:t>
            </a:r>
            <a:r>
              <a:rPr lang="en-US" sz="4000" dirty="0">
                <a:solidFill>
                  <a:schemeClr val="tx1">
                    <a:lumMod val="50000"/>
                    <a:lumOff val="50000"/>
                  </a:schemeClr>
                </a:solidFill>
                <a:latin typeface="Arial" panose="020B0604020202020204" pitchFamily="34" charset="0"/>
              </a:rPr>
              <a:t> and J.-H. </a:t>
            </a:r>
            <a:r>
              <a:rPr lang="en-US" sz="4000" dirty="0" err="1">
                <a:solidFill>
                  <a:schemeClr val="tx1">
                    <a:lumMod val="50000"/>
                    <a:lumOff val="50000"/>
                  </a:schemeClr>
                </a:solidFill>
                <a:latin typeface="Arial" panose="020B0604020202020204" pitchFamily="34" charset="0"/>
              </a:rPr>
              <a:t>Baek</a:t>
            </a:r>
            <a:r>
              <a:rPr lang="en-US" sz="4000" dirty="0">
                <a:solidFill>
                  <a:schemeClr val="tx1">
                    <a:lumMod val="50000"/>
                    <a:lumOff val="50000"/>
                  </a:schemeClr>
                </a:solidFill>
                <a:latin typeface="Arial" panose="020B0604020202020204" pitchFamily="34" charset="0"/>
              </a:rPr>
              <a:t>, “Dynamic edge convolutional neural network for skeleton-based human action recognition,” Sensors, vol. 23, no. 2,p. 778, 2023.</a:t>
            </a:r>
          </a:p>
          <a:p>
            <a:pPr marL="311150" indent="-311150">
              <a:lnSpc>
                <a:spcPct val="120000"/>
              </a:lnSpc>
              <a:buFont typeface="+mj-lt"/>
              <a:buAutoNum type="arabicParenR"/>
            </a:pPr>
            <a:r>
              <a:rPr lang="en-US" sz="4000" dirty="0">
                <a:solidFill>
                  <a:schemeClr val="tx1">
                    <a:lumMod val="50000"/>
                    <a:lumOff val="50000"/>
                  </a:schemeClr>
                </a:solidFill>
                <a:latin typeface="Arial" panose="020B0604020202020204" pitchFamily="34" charset="0"/>
              </a:rPr>
              <a:t>A. </a:t>
            </a:r>
            <a:r>
              <a:rPr lang="en-US" sz="4000" dirty="0" err="1">
                <a:solidFill>
                  <a:schemeClr val="tx1">
                    <a:lumMod val="50000"/>
                    <a:lumOff val="50000"/>
                  </a:schemeClr>
                </a:solidFill>
                <a:latin typeface="Arial" panose="020B0604020202020204" pitchFamily="34" charset="0"/>
              </a:rPr>
              <a:t>Vakanski</a:t>
            </a:r>
            <a:r>
              <a:rPr lang="en-US" sz="4000" dirty="0">
                <a:solidFill>
                  <a:schemeClr val="tx1">
                    <a:lumMod val="50000"/>
                    <a:lumOff val="50000"/>
                  </a:schemeClr>
                </a:solidFill>
                <a:latin typeface="Arial" panose="020B0604020202020204" pitchFamily="34" charset="0"/>
              </a:rPr>
              <a:t>, H.-P. Jun, D. Paul, and R. Baker, “A data set of human body movements for physical rehabilitation exercises,” Data (Basel), vol. 3, Mar. 2018.</a:t>
            </a:r>
          </a:p>
          <a:p>
            <a:pPr marL="311150" indent="-311150">
              <a:lnSpc>
                <a:spcPct val="120000"/>
              </a:lnSpc>
              <a:buFont typeface="+mj-lt"/>
              <a:buAutoNum type="arabicParenR"/>
            </a:pPr>
            <a:r>
              <a:rPr lang="en-US" sz="4000" b="0" i="0" u="none" strike="noStrike" dirty="0">
                <a:solidFill>
                  <a:schemeClr val="tx1">
                    <a:lumMod val="50000"/>
                    <a:lumOff val="50000"/>
                  </a:schemeClr>
                </a:solidFill>
                <a:effectLst/>
                <a:latin typeface="Arial" panose="020B0604020202020204" pitchFamily="34" charset="0"/>
              </a:rPr>
              <a:t>M. Fern ́</a:t>
            </a:r>
            <a:r>
              <a:rPr lang="en-US" sz="4000" b="0" i="0" u="none" strike="noStrike" dirty="0" err="1">
                <a:solidFill>
                  <a:schemeClr val="tx1">
                    <a:lumMod val="50000"/>
                    <a:lumOff val="50000"/>
                  </a:schemeClr>
                </a:solidFill>
                <a:effectLst/>
                <a:latin typeface="Arial" panose="020B0604020202020204" pitchFamily="34" charset="0"/>
              </a:rPr>
              <a:t>andez</a:t>
            </a:r>
            <a:r>
              <a:rPr lang="en-US" sz="4000" b="0" i="0" u="none" strike="noStrike" dirty="0">
                <a:solidFill>
                  <a:schemeClr val="tx1">
                    <a:lumMod val="50000"/>
                    <a:lumOff val="50000"/>
                  </a:schemeClr>
                </a:solidFill>
                <a:effectLst/>
                <a:latin typeface="Arial" panose="020B0604020202020204" pitchFamily="34" charset="0"/>
              </a:rPr>
              <a:t>-Delgado, E. </a:t>
            </a:r>
            <a:r>
              <a:rPr lang="en-US" sz="4000" b="0" i="0" u="none" strike="noStrike" dirty="0" err="1">
                <a:solidFill>
                  <a:schemeClr val="tx1">
                    <a:lumMod val="50000"/>
                    <a:lumOff val="50000"/>
                  </a:schemeClr>
                </a:solidFill>
                <a:effectLst/>
                <a:latin typeface="Arial" panose="020B0604020202020204" pitchFamily="34" charset="0"/>
              </a:rPr>
              <a:t>Cernadas</a:t>
            </a:r>
            <a:r>
              <a:rPr lang="en-US" sz="4000" b="0" i="0" u="none" strike="noStrike" dirty="0">
                <a:solidFill>
                  <a:schemeClr val="tx1">
                    <a:lumMod val="50000"/>
                    <a:lumOff val="50000"/>
                  </a:schemeClr>
                </a:solidFill>
                <a:effectLst/>
                <a:latin typeface="Arial" panose="020B0604020202020204" pitchFamily="34" charset="0"/>
              </a:rPr>
              <a:t>, S. Barro, and D. Amorim, “Do we need hundreds of classifiers to solve real world classification problems?,” The Journal of Machine Learning Research, vol. 15, no. 1, pp. 3133– 3181, 2014.</a:t>
            </a:r>
          </a:p>
          <a:p>
            <a:pPr marL="311150" indent="-311150">
              <a:lnSpc>
                <a:spcPct val="120000"/>
              </a:lnSpc>
              <a:buFont typeface="+mj-lt"/>
              <a:buAutoNum type="arabicParenR"/>
            </a:pPr>
            <a:r>
              <a:rPr lang="en-US" sz="4000" b="0" i="0" u="none" strike="noStrike" dirty="0">
                <a:solidFill>
                  <a:schemeClr val="tx1">
                    <a:lumMod val="50000"/>
                    <a:lumOff val="50000"/>
                  </a:schemeClr>
                </a:solidFill>
                <a:effectLst/>
                <a:latin typeface="Arial" panose="020B0604020202020204" pitchFamily="34" charset="0"/>
              </a:rPr>
              <a:t>R. Caruana and A. Niculescu-</a:t>
            </a:r>
            <a:r>
              <a:rPr lang="en-US" sz="4000" b="0" i="0" u="none" strike="noStrike" dirty="0" err="1">
                <a:solidFill>
                  <a:schemeClr val="tx1">
                    <a:lumMod val="50000"/>
                    <a:lumOff val="50000"/>
                  </a:schemeClr>
                </a:solidFill>
                <a:effectLst/>
                <a:latin typeface="Arial" panose="020B0604020202020204" pitchFamily="34" charset="0"/>
              </a:rPr>
              <a:t>Mizil</a:t>
            </a:r>
            <a:r>
              <a:rPr lang="en-US" sz="4000" b="0" i="0" u="none" strike="noStrike" dirty="0">
                <a:solidFill>
                  <a:schemeClr val="tx1">
                    <a:lumMod val="50000"/>
                    <a:lumOff val="50000"/>
                  </a:schemeClr>
                </a:solidFill>
                <a:effectLst/>
                <a:latin typeface="Arial" panose="020B0604020202020204" pitchFamily="34" charset="0"/>
              </a:rPr>
              <a:t>, “An empirical comparison of supervised learning algorithms,” in Proceedings of the 23rd international conference on Machine learning, pp. 161–168, ACM, June 2006.</a:t>
            </a:r>
            <a:endParaRPr lang="en-EG" sz="4000" dirty="0">
              <a:solidFill>
                <a:schemeClr val="tx1">
                  <a:lumMod val="50000"/>
                  <a:lumOff val="50000"/>
                </a:schemeClr>
              </a:solidFill>
            </a:endParaRPr>
          </a:p>
        </p:txBody>
      </p:sp>
    </p:spTree>
    <p:extLst>
      <p:ext uri="{BB962C8B-B14F-4D97-AF65-F5344CB8AC3E}">
        <p14:creationId xmlns:p14="http://schemas.microsoft.com/office/powerpoint/2010/main" val="1343518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8960</TotalTime>
  <Words>2779</Words>
  <Application>Microsoft Macintosh PowerPoint</Application>
  <PresentationFormat>Widescreen</PresentationFormat>
  <Paragraphs>268</Paragraphs>
  <Slides>24</Slides>
  <Notes>15</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Arial</vt:lpstr>
      <vt:lpstr>Calibri</vt:lpstr>
      <vt:lpstr>Calibri Light</vt:lpstr>
      <vt:lpstr>MyriadPro</vt:lpstr>
      <vt:lpstr>NimbusRomNo9L</vt:lpstr>
      <vt:lpstr>Noto Serif</vt:lpstr>
      <vt:lpstr>Palatino Linotype</vt:lpstr>
      <vt:lpstr>Source Sans Pro</vt:lpstr>
      <vt:lpstr>Times</vt:lpstr>
      <vt:lpstr>TimesNewRomanPSMT</vt:lpstr>
      <vt:lpstr>URWPalladioL</vt:lpstr>
      <vt:lpstr>Office Theme</vt:lpstr>
      <vt:lpstr>A Framework for Assessing Physical Rehabilitation Exercises</vt:lpstr>
      <vt:lpstr>Outlines</vt:lpstr>
      <vt:lpstr>Introduction 1/2</vt:lpstr>
      <vt:lpstr>Introduction 2/2</vt:lpstr>
      <vt:lpstr>Motivation</vt:lpstr>
      <vt:lpstr>Problem Statement</vt:lpstr>
      <vt:lpstr>Related Work</vt:lpstr>
      <vt:lpstr>Related Work 1/2 :  Direct rehabilitation systems  :  Pure vision‐based </vt:lpstr>
      <vt:lpstr>Related Work 2/2  :  Virtual Rehabilitation systems  :  Multi-Modal</vt:lpstr>
      <vt:lpstr>Related Work 1/2 : </vt:lpstr>
      <vt:lpstr>PowerPoint Presentation</vt:lpstr>
      <vt:lpstr>Proposed Framework</vt:lpstr>
      <vt:lpstr>Datasets</vt:lpstr>
      <vt:lpstr>Preprocessing</vt:lpstr>
      <vt:lpstr>Feature Engineering</vt:lpstr>
      <vt:lpstr>Expierments</vt:lpstr>
      <vt:lpstr>Used Algorithms 1 of 2</vt:lpstr>
      <vt:lpstr>Used Algorithms 2 of 2</vt:lpstr>
      <vt:lpstr>Expierments 1 of 2</vt:lpstr>
      <vt:lpstr>Expierments 2 of 2</vt:lpstr>
      <vt:lpstr>Results </vt:lpstr>
      <vt:lpstr>Conclusion</vt:lpstr>
      <vt:lpstr>Future Work</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Human Activity Recognition to Classify Common Physical Weakness</dc:title>
  <dc:creator>Mo'men Ibrahem</dc:creator>
  <cp:lastModifiedBy>Mo'men Ibrahem</cp:lastModifiedBy>
  <cp:revision>20</cp:revision>
  <dcterms:created xsi:type="dcterms:W3CDTF">2022-09-11T07:44:25Z</dcterms:created>
  <dcterms:modified xsi:type="dcterms:W3CDTF">2023-07-09T06:13:35Z</dcterms:modified>
</cp:coreProperties>
</file>