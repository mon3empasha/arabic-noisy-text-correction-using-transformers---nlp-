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4"/>
    <p:restoredTop sz="91976"/>
  </p:normalViewPr>
  <p:slideViewPr>
    <p:cSldViewPr snapToGrid="0">
      <p:cViewPr varScale="1">
        <p:scale>
          <a:sx n="107" d="100"/>
          <a:sy n="107" d="100"/>
        </p:scale>
        <p:origin x="540" y="114"/>
      </p:cViewPr>
      <p:guideLst/>
    </p:cSldViewPr>
  </p:slideViewPr>
  <p:outlineViewPr>
    <p:cViewPr>
      <p:scale>
        <a:sx n="33" d="100"/>
        <a:sy n="33" d="100"/>
      </p:scale>
      <p:origin x="0" y="-60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22A86-3B29-1B42-BF1F-067BB333AF35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7418C-74CC-0242-A6F1-6C9CC14D5309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91453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We present an end-to-end Arabic text correction framework comparing a compact custom Transformer with a pre-trained AraBART multi-modal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agenda briefly. Emphasize the two-path story: controlled benchmarking vs. real-world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conceptual slide: Branch A optimizes controlled character fidelity; Branch B optimizes real-world multi-modal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left-to-right: Youm7 corpus, cleaning, normalization, synthetic noise, then the two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that these are two operating settings, not a single fair leaderboard. Custom wins CER in-domain; AraBART wins deployment breadth.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two-tier takeaway and the three contribution pillars: workflow, dual paths, and strong in-domain 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F490-5A50-E2E8-80BD-0CDDF7CC3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55DA3-9D6D-9D21-6D03-104617D1E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236E5-9714-6D14-A46A-239B7A04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180D-4123-5354-A053-FFF03DC2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572A-5539-5481-FF31-F48ABE97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1352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F5293-B7B3-E3C2-486E-13B99887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5544-A4C3-D8F0-5D8E-83802AEBE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DB84-308F-475C-18E3-0B610E16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9C0D6-C1F3-37FC-9531-03BEEF8E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9820A-1DC4-4072-6C8D-12373468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25419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D2A7-2506-9E4A-456D-91DC2FE19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0920-ECF8-F8EE-F4A0-C1CDB0917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4C965-8012-CED5-30EA-B6F3F6BA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A4AF-B992-733C-F23A-2468811B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18A8E-003A-0F3F-F01A-9EEE6F416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4868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C587-D609-57F4-72FD-52726BE0C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3C3F1-BB79-C55D-AC34-96181705A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6D1E7-3B19-0E5F-1D38-CE1A43E01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5FA0A-4F9D-A704-64EA-8C597FB1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7F401-D1F8-597F-FA6B-AE8138DAE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CE36E-84C2-7A38-680E-119DDC1A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250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C8C84-729E-5DE3-614F-0F5B2612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10362-23AB-64C4-0DF3-298359EEE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708EC-8315-F394-F904-032F6F4D5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5E953-41B4-716C-0C1D-EBC56D5DE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ACEB2-35A2-B074-89EB-886643188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34FD5-6CFB-30D0-FFF5-A8A65ACE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58531-5DE3-1D1D-213A-00D7E603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FC93B-93D5-26F4-0574-3F5755E35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65920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DA0C-E041-E86A-332B-E3F4A274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CB6D6C-45EE-C232-2C0F-849F571D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B5081-ED3A-AFCF-9810-85B6CDC9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FED63-0A50-4142-3B96-A4C8C79F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11266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BE331-580E-AB14-A716-B248E148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F4BB9-5A94-54AA-644C-F5BA27A1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D1822-2DCF-CD8E-AC12-F46BE561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1589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BED5-CF10-EC84-EF18-0413C18A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C746-51F5-8CC0-93E5-3003FBA85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C0F5D-68B9-068E-1051-4079D90A7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6A290-F705-F980-6C5B-5C987327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BF667-D583-9E7F-0EA9-59A5E394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761C1-937F-31C0-267B-907EE46C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8811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618B-6D78-5370-BF90-B6BCFF02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FBBF6-8EAB-7686-514F-7B344DC06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1443D-9DE2-9E04-4569-B282AB788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DEEA9-0BB1-593F-B53B-C127AB77F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62F28-8C32-9E25-9E4A-18797310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CCB77-807A-97CF-B678-208C85FF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537046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A09F-0EC6-079F-9BB2-48264864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99573-1DAA-9475-18E9-C47ACA217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FED9-9874-8974-53B2-7CC4915C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3363-D54C-48C7-956D-D77EFDAE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606AB-4289-6479-DC4D-701BECDD4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11157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4A5688-EDCB-400C-8B5F-6BADA173C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43429-0D14-C154-FFCE-590B9ADA9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14F33-8E77-6957-5D5F-3FD1FD4B9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877B-00C5-A56D-6532-64D25AB7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CDAFA-726A-606F-844D-6DA0AC3B7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70721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53CC6-BBAA-F892-D26A-E43CB6EC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9DC52-15AB-DFBD-ABF7-A57ED063C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34246-A95A-4347-12E4-32F7C0436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3E047-0C45-6143-91AA-C4865AFDB7E7}" type="datetimeFigureOut">
              <a:rPr lang="en-EG" smtClean="0"/>
              <a:t>07/11/2026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87A7A-E44B-8E07-4197-40A2E537B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34FAB-9A3E-0ED6-830E-8C725276B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71F06-E3F5-E242-AD46-023EB074373D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39299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499"/>
                </a:solidFill>
                <a:latin typeface="Noto Serif"/>
              </a:rPr>
              <a:t>Intelligent Methods, Systems, and Applications</a:t>
            </a:r>
          </a:p>
          <a:p>
            <a:pPr algn="l"/>
            <a:r>
              <a:rPr sz="1600" b="1">
                <a:solidFill>
                  <a:srgbClr val="006499"/>
                </a:solidFill>
                <a:latin typeface="Noto Serif"/>
              </a:rPr>
              <a:t>(IMSA)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0"/>
            <a:ext cx="3291840" cy="8778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6499"/>
                </a:solidFill>
                <a:latin typeface="Arial"/>
              </a:rPr>
              <a:t>An End-to-End Arabic Text Correction Framework:</a:t>
            </a:r>
          </a:p>
          <a:p>
            <a:pPr algn="ctr"/>
            <a:r>
              <a:rPr sz="2600" b="1">
                <a:solidFill>
                  <a:srgbClr val="006499"/>
                </a:solidFill>
                <a:latin typeface="Arial"/>
              </a:rPr>
              <a:t>Comparing Custom Character-Level Transformers</a:t>
            </a:r>
          </a:p>
          <a:p>
            <a:pPr algn="ctr"/>
            <a:r>
              <a:rPr sz="2600" b="1">
                <a:solidFill>
                  <a:srgbClr val="006499"/>
                </a:solidFill>
                <a:latin typeface="Arial"/>
              </a:rPr>
              <a:t>and Pre-trained AraBART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Mohamed Soltan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Dept. of Computer Science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MSA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Abdelmonem Hatem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Dept. of Computer Science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MSA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Mohamed Taha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Dept. of Computer Science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MSA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0175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Youssef Khalaf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383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Dept. of Computer Science</a:t>
            </a:r>
          </a:p>
          <a:p>
            <a:pPr algn="ctr"/>
            <a:r>
              <a:rPr sz="1100" b="0">
                <a:solidFill>
                  <a:srgbClr val="4A5A6A"/>
                </a:solidFill>
                <a:latin typeface="Arial"/>
              </a:rPr>
              <a:t>MSA University</a:t>
            </a:r>
          </a:p>
        </p:txBody>
      </p:sp>
      <p:pic>
        <p:nvPicPr>
          <p:cNvPr id="13" name="Picture 12" descr="Picture 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5394960"/>
            <a:ext cx="100584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5669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Arial"/>
              </a:rPr>
              <a:t>October University for Modern Sciences and Arts (MSA)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Arial"/>
              </a:rPr>
              <a:t>Cairo, Egypt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943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6499"/>
                </a:solidFill>
                <a:latin typeface="Arial"/>
              </a:rPr>
              <a:t>IEEE / IMSA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Outline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17320"/>
            <a:ext cx="9144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Introduction &amp; Motivation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Problem Statement &amp; Soft Errors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Related 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Proposed End-to-End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Data Pipeline, Normalization &amp; Noise Injection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Custom Transformer Architecture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AraBART Multi-modal Deployment Service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Experiments, Metrics &amp; Baselines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Results, Error Analysis &amp; Discussion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Arial"/>
              </a:rPr>
              <a:t>•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Introduction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Arabic text correction is critical for education, media QA, accessibility, and moderation.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Challenges: orthographic variants, visually confusable letters, optional diacritics, and spacing that changes meaning.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OCR and ASR add broken words, missing characters, merged tokens, and repeated substitutions.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Core design question: compact task-specific model vs. larger pre-trained Arabic model?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This work studies that trade-off with two complementary correction paths.</a:t>
            </a:r>
          </a:p>
        </p:txBody>
      </p:sp>
      <p:pic>
        <p:nvPicPr>
          <p:cNvPr id="5" name="Picture 4" descr="soft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243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Motivation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371600"/>
            <a:ext cx="5212080" cy="192024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OCR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Broken tokens, substitutions, and spacing errors from scanned Arabic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5212080" cy="192024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ASR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148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Speech transcripts introduce phonetic and boundary mistakes.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212080" cy="192024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Typing Soft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Alef/Hamza/Teh Marbuta confusions are frequent and meaning-changing.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657600"/>
            <a:ext cx="5212080" cy="192024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Deployment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4348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Most Arabic studies report scores, few ship multi-modal user-facing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Problem Statement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Small character-level errors in Arabic can change meaning, break token boundaries, or reduce grammatical fluency.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Correction is more than dictionary lookup — it needs sequence context at character and sentence levels.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Existing resources often lack controlled noisy-clean pairs tailored to modern Arabic news orthography.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Benchmarks alone are insufficient: real systems must also handle OCR images, audio, and live speech.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Arial"/>
              </a:rPr>
              <a:t>• Goal: a reproducible end-to-end workflow covering data curation, noise synthesis, training, evaluation, and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Arabic Soft Error Categories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soft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10972800" cy="51340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Arial"/>
              </a:rPr>
              <a:t>Guided by learner studies, social-media patterns, and editor correction logs (~85% of common Arabic spelling errors).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Contributions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con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0789920" cy="40585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Related Work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Seq2Seq /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280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Sutskever, Bahdanau, Vaswani — correction as conditional generation with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3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Denoising Pretraining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148839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BART / T5 show corruption-reconstruction transfers well to correction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Arabic Pretraining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017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AraBERT &amp; CAMeL models improve Arabic understanding and generation baselines.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Arabic GEC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886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QALB remains core; BiLSTM and T5 variants still struggle with heavy noise.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Deployment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754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Arial"/>
              </a:rPr>
              <a:t>Few works combine OCR + ASR + correction in one Arabic user-facing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Proposed Framework Overview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two_t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11155680" cy="50149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End-to-End Pipeline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82" y="899160"/>
            <a:ext cx="11126814" cy="5678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Arial"/>
              </a:rPr>
              <a:t>Shared data path splits into Branch A (custom Transformer) and Branch B (AraBART multi-modal service).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Data Acquisition &amp; Curation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Scraped Youm7 Arabic news with async aiohttp + BeautifulSoup.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Polite crawling: 1–3s randomized delays, retries, robots.txt compliance.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Filters: remove boilerplate, short articles, and samples with &gt;15% non-Arabic.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Final clean corpus: 100,000 high-quality articles (news, education, health, tech).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Prepared 10,000 noisy-clean pairs for controlled modeling.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Split: 8,000 train / 1,000 val / 1,000 held-out test.</a:t>
            </a:r>
          </a:p>
        </p:txBody>
      </p:sp>
      <p:pic>
        <p:nvPicPr>
          <p:cNvPr id="5" name="Picture 4" descr="dataset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4937760" cy="4987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Arabic Corpus Context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Use / Availability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Youm7 (this work)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100,000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Youm7 Egypt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Noisy-clean generation / Private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SANAD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194,797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AlKhaleej+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Classification / 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Ultimate Arabic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Multiple outlets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General NLP / 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ANAD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12 news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Annotated news / 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~1.85M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Regional newspapers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Multimodal metadata / 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Wiki-40B (AR)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~1M+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Arabic Wikipedia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Language modeling / Public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Normalization &amp; Noise Injection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344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Deterministic normalization: Alef, Yaa, Hamza, Teh Marbuta; remove tatweel/diacritics where needed.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Overall corruption budget: 20% (10% sub, 5% del, 5% ins).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Confusable-character map + keyboard adjacency + punctuation drift.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Categories keep synthesis realistic and analyzable.</a:t>
            </a:r>
          </a:p>
        </p:txBody>
      </p:sp>
      <p:pic>
        <p:nvPicPr>
          <p:cNvPr id="5" name="Picture 4" descr="corruption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486400" cy="30557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Representative Generated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Noisy: اعلنت كليه الصيدله عن مواعبد التسجيل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Clean: أعلنت كلية الصيدلة عن مواعيد التسجيل</a:t>
            </a:r>
          </a:p>
          <a:p>
            <a:pPr algn="l"/>
            <a:endParaRPr sz="1300" b="0">
              <a:solidFill>
                <a:srgbClr val="1A1A1A"/>
              </a:solidFill>
              <a:latin typeface="Arial"/>
            </a:endParaRPr>
          </a:p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Noisy: انلقت مبادرة مدارس النيل المصرية الودلية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Clean: انطلقت مبادرة مدارس النيل المصرية الدولية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Custom Seq2Seq Transformer (Branch A)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seq2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11704320" cy="55161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Model Configuration &amp; Training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280160"/>
            <a:ext cx="5303520" cy="475488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Character-level encoder-decoder Transformer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Embedding dim: 256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Encoder / Decoder layers: 3 / 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Attention heads: 8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FFN dimension: 512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Dropout: 0.1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Max sequence length: 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75488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Training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Optimizer: Adam (lr = 1e-4)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Loss: sparse categorical cross-entropy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Scheduled sampling: teacher forcing 1.0 → 0.3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Mixed precision + checkpointing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Batch size: 32 | Epochs: 10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GPU training ≈ 100 minutes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Checkpoint size ≈ 50 MB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AraBART Deployment Service (Branch B)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Model: CAMeL-Lab/arabart-qalb15-gec-ged-13 (Hugging Face).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Integrated in a Streamlit application for practical use.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Input modes: manual text, text files, OCR images, audio, live speech.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OCR via OCR.space API; speech via Whisper ASR.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Zero-shot deployment setting — no project-specific fine-tuning in this study.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Stronger grammatical fluency and broader real-world usability.</a:t>
            </a:r>
          </a:p>
        </p:txBody>
      </p:sp>
      <p:pic>
        <p:nvPicPr>
          <p:cNvPr id="5" name="Picture 4" descr="foot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029200" cy="27970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Evaluation Metrics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371600"/>
            <a:ext cx="5303520" cy="292608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499"/>
                </a:solidFill>
                <a:latin typeface="Arial"/>
              </a:rPr>
              <a:t>Primary Metric: 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CER = (S + D + I) / N</a:t>
            </a:r>
          </a:p>
          <a:p>
            <a:pPr algn="l"/>
            <a:endParaRPr sz="1600" b="0">
              <a:solidFill>
                <a:srgbClr val="1A1A1A"/>
              </a:solidFill>
              <a:latin typeface="Arial"/>
            </a:endParaRPr>
          </a:p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S = substitutions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D = deletions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I = insertions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Arial"/>
              </a:rPr>
              <a:t>N = reference length (characters)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CER suits character-level soft spelling correction.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BLEU used as secondary lexical/sequence quality metric.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Two evaluation settings (not a single leaderboard):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– Custom model: in-domain synthetic held-out split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– AraBART: zero-shot multi-modal application inputs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Baselines: normalization-only + dictionary spell correction;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project reference ranges for rule-based and BiLSTM.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Baseline Context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baseline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88720"/>
            <a:ext cx="9601200" cy="5073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Arial"/>
              </a:rPr>
              <a:t>Custom Transformer reaches 89.36% character accuracy on synthetic project runs — best in-domain fidelity.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Training Dynamics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7315200" cy="38630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630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Epoch 1: 38.38%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Epoch 6 peak: 91.69%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Epoch 10: 89.36%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Fast early learning of dominant patterns.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Later slight drop suggests mild overfitting to synthetic noise.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Earlier stopping / stronger regularization recommended.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Side-by-Side Results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Custom Transformer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AraBART Service</a:t>
                      </a:r>
                    </a:p>
                  </a:txBody>
                  <a:tcPr>
                    <a:solidFill>
                      <a:srgbClr val="0064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In-domain synthetic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Zero-shot multi-modal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Char seq2seq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arabart-qalb15-gec-ged-13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CER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0.0364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0.0950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BLEU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Not reported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Peak token acc.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91.69%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N/A (pre-trained)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Training time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~100 min GPU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Inference only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~50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~1.5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Inputs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Text pipeline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Text, file, OCR, audio, speech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CER Comparison Across Settings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c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7132320" cy="3993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Lower CER = better reconstruction.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Custom model wins in-domain fidelity.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AraBART remains preferred for fluency and multi-modal robustness.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Not a like-for-like contest — two operating settings.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CER Distribution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c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7498079" cy="4188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6304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Most samples concentrate in a low-CER band.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Indicates stable correction, not luck on a few cases.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Right tail = heavy corruption samples.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Useful for reliability assessment in deployment.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Character Confusion Matrix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849419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Strong diagonal = solid identity mapping.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Off-diagonal cells reveal persistent substitutions.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Hard cases: Alef/Hamza variants, Yaa/Alif-Maqsura, Teh Marbuta/Heh.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Whitespace boundary errors amplify local drift.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Guides targeted augmentation and loss design.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Error Analysis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pic>
        <p:nvPicPr>
          <p:cNvPr id="4" name="Picture 3" descr="error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486400" cy="4938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37160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Substitutions dominate (~60–70%).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Insertions and deletions each ~15–20%.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Matches Arabic soft-error behavior: near-equivalent character choice.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Future work should prioritize whitespace + Alef/Hamza contrasts.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Curriculum / class-weighted objectives can reduce hard confusions.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Discussion &amp; Deployment Implications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280160"/>
            <a:ext cx="5303520" cy="457200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499"/>
                </a:solidFill>
                <a:latin typeface="Arial"/>
              </a:rPr>
              <a:t>When to use Custom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Controlled in-domain character fidelity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Low footprint (~50 MB) after training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Interpretable error diagnostics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Edge / lightweight serving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4572000"/>
          </a:xfrm>
          <a:prstGeom prst="roundRect">
            <a:avLst/>
          </a:prstGeom>
          <a:solidFill>
            <a:srgbClr val="FFF8EC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838"/>
                </a:solidFill>
                <a:latin typeface="Arial"/>
              </a:rPr>
              <a:t>When to use AraBART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Grammatical fluency under real noise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OCR / ASR / live speech inputs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Fast adoption (no fine-tuning here)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User-facing educational &amp; media tools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Conclusion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Delivered a reproducible Arabic correction workflow: collect → normalize → synthesize → train → evaluate → deploy.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Custom character-level Transformer: strong in-domain reconstruction (CER 0.0364, peak accuracy 91.69%).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AraBART Streamlit service: better practical fluency across text, OCR, audio, and live speech.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Remaining errors concentrate in whitespace and Alef/Hamza-style confusions.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Best practice: two-tier system — compact model for control, pre-trained service for real-world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Future Work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280160"/>
            <a:ext cx="5212080" cy="141732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Targeted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Focus synthetic noise on Alef/Hamza, Teh Marbuta/Heh, and whitespace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280160"/>
            <a:ext cx="5212080" cy="141732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41731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Regularization &amp; Early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78308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Preserve peak generalization near epoch 6 and reduce late overfitting.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5212080" cy="141732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Shared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Fair comparison on external datasets such as QALB.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926080"/>
            <a:ext cx="5212080" cy="141732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30632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Dialect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42900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Extend to dialectal Arabic with dialect ID + focused data collection.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212080" cy="141732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Grammar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Add grammar-aware detection for broader writing-support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572000"/>
            <a:ext cx="5212080" cy="1417320"/>
          </a:xfrm>
          <a:prstGeom prst="roundRect">
            <a:avLst/>
          </a:prstGeom>
          <a:solidFill>
            <a:srgbClr val="F0F7FB"/>
          </a:solidFill>
          <a:ln w="15875">
            <a:solidFill>
              <a:srgbClr val="00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4709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499"/>
                </a:solidFill>
                <a:latin typeface="Arial"/>
              </a:rPr>
              <a:t>Confidence Estimation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0749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Production-ready uncertainty signals for safer corrections.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2560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6499"/>
                </a:solidFill>
                <a:latin typeface="Arial"/>
              </a:rPr>
              <a:t>Selected References</a:t>
            </a:r>
          </a:p>
        </p:txBody>
      </p:sp>
      <p:pic>
        <p:nvPicPr>
          <p:cNvPr id="3" name="Picture 2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5720"/>
            <a:ext cx="3200400" cy="85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Vaswani et al., Attention Is All You Need, NeurIPS, 2017.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Lewis et al., BART: Denoising Seq2Seq Pre-training, ACL, 2020.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Raffel et al., Exploring the Limits of Transfer Learning with T5, JMLR, 2020.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Antoun et al., AraBERT: Transformer-based Model for Arabic, 2020.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Abandah et al., Correcting Arabic Soft Spelling Mistakes Using BiLSTM, 2022.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Al-Qaraghuli &amp; Jaafar, Arabic Soft Spelling Correction with T5, 2024.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Rozovskaya et al., QALB Arabic Error Correction Shared Tasks.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CAMeL-Lab AraBART (arabart-qalb15-gec-ged-13), Hugging Face.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Radford et al., Whisper: Robust Speech Recognition, 2023.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1440"/>
            <a:ext cx="320040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6499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4466"/>
                </a:solidFill>
                <a:latin typeface="Arial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5A6A"/>
                </a:solidFill>
                <a:latin typeface="Arial"/>
              </a:rPr>
              <a:t>Mohamed Soltan  •  Abdelmonem Hatem  •  Mohamed Taha  •  Youssef Khalaf</a:t>
            </a:r>
          </a:p>
          <a:p>
            <a:pPr algn="ctr"/>
            <a:r>
              <a:rPr sz="1400" b="0">
                <a:solidFill>
                  <a:srgbClr val="4A5A6A"/>
                </a:solidFill>
                <a:latin typeface="Arial"/>
              </a:rPr>
              <a:t>October University for Modern Sciences and Arts (MSA)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8966</TotalTime>
  <Words>1835</Words>
  <Application>Microsoft Office PowerPoint</Application>
  <PresentationFormat>Widescreen</PresentationFormat>
  <Paragraphs>268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Human Activity Recognition to Classify Common Physical Weakness</dc:title>
  <dc:creator>Mo'men Ibrahem</dc:creator>
  <cp:lastModifiedBy>Mohamed ibrahim</cp:lastModifiedBy>
  <cp:revision>21</cp:revision>
  <dcterms:created xsi:type="dcterms:W3CDTF">2022-09-11T07:44:25Z</dcterms:created>
  <dcterms:modified xsi:type="dcterms:W3CDTF">2026-07-11T13:41:43Z</dcterms:modified>
</cp:coreProperties>
</file>