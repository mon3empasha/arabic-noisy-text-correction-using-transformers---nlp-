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3" r:id="rId1"/>
  </p:sldMasterIdLst>
  <p:notesMasterIdLst>
    <p:notesMasterId r:id="rId2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6"/>
    <p:sldId id="276" r:id="rId5"/>
    <p:sldId id="277" r:id="rId4"/>
    <p:sldId id="278" r:id="rId3"/>
    <p:sldId id="279" r:id="rId2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/>
  <p:notesSz cx="6858000" cy="9144000"/>
  <p:defaultTextStyle>
    <a:defPPr>
      <a:defRPr lang="en-E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4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654"/>
    <p:restoredTop sz="91976"/>
  </p:normalViewPr>
  <p:slideViewPr>
    <p:cSldViewPr snapToGrid="0">
      <p:cViewPr varScale="1">
        <p:scale>
          <a:sx n="83" d="100"/>
          <a:sy n="83" d="100"/>
        </p:scale>
        <p:origin x="224" y="608"/>
      </p:cViewPr>
      <p:guideLst/>
    </p:cSldViewPr>
  </p:slideViewPr>
  <p:outlineViewPr>
    <p:cViewPr>
      <p:scale>
        <a:sx n="33" d="100"/>
        <a:sy n="33" d="100"/>
      </p:scale>
      <p:origin x="0" y="-6056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4.xml"/><Relationship Id="rId3" Type="http://schemas.openxmlformats.org/officeDocument/2006/relationships/slide" Target="slides/slide23.xml"/><Relationship Id="rId4" Type="http://schemas.openxmlformats.org/officeDocument/2006/relationships/slide" Target="slides/slide22.xml"/><Relationship Id="rId5" Type="http://schemas.openxmlformats.org/officeDocument/2006/relationships/slide" Target="slides/slide21.xml"/><Relationship Id="rId6" Type="http://schemas.openxmlformats.org/officeDocument/2006/relationships/slide" Target="slides/slide20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E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22A86-3B29-1B42-BF1F-067BB333AF35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E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E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7418C-74CC-0242-A6F1-6C9CC14D5309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9145355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 morning. We present an end-to-end Arabic text correction framework comparing a compact custom Transformer with a pre-trained AraBART multi-modal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briefly. Emphasize the two-path story: controlled benchmarking vs. real-world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field from QALB shared tasks to BiLSTM, AraBART+GED, and T5 soft spelling — then introduce our end-to-end deployment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Abandah BiLSTM (CER 1.28%), Al-Qaraghuli T5 (CER 0.77% on Test200), and Alhafni AraBART+GED SOTA on QALB. Emphasize that none deliver our full multi-modal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 art solves pieces of the problem. Our gap fill is the reproducible workflow that couples controlled modeling with OCR/ASR deployment.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key conceptual slide: Branch A optimizes controlled character fidelity; Branch B optimizes real-world multi-modal usability.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left-to-right: Youm7 corpus, cleaning, normalization, synthetic noise, then the two branches.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these are two operating settings, not a single fair leaderboard. Custom wins CER in-domain; AraBART wins deployment breadth.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two-tier takeaway and the three contribution pillars: workflow, dual paths, and strong in-domain 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0F490-5A50-E2E8-80BD-0CDDF7CC34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F55DA3-9D6D-9D21-6D03-104617D1E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236E5-9714-6D14-A46A-239B7A047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7180D-4123-5354-A053-FFF03DC20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0572A-5539-5481-FF31-F48ABE9756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01352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2F5293-B7B3-E3C2-486E-13B99887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AB5544-A4C3-D8F0-5D8E-83802AEBE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6DB84-308F-475C-18E3-0B610E161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59C0D6-C1F3-37FC-9531-03BEEF8E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39820A-1DC4-4072-6C8D-12373468D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2541903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0D2A7-2506-9E4A-456D-91DC2FE19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B20920-ECF8-F8EE-F4A0-C1CDB09179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94C965-8012-CED5-30EA-B6F3F6BA2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FA4AF-B992-733C-F23A-2468811B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318A8E-003A-0F3F-F01A-9EEE6F416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048689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6C587-D609-57F4-72FD-52726BE0C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63C3F1-BB79-C55D-AC34-96181705A3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06D1E7-3B19-0E5F-1D38-CE1A43E01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5FA0A-4F9D-A704-64EA-8C597FB10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37F401-D1F8-597F-FA6B-AE8138DAE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9CE36E-84C2-7A38-680E-119DDC1AD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0250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C8C84-729E-5DE3-614F-0F5B26126C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A10362-23AB-64C4-0DF3-298359EEE5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C708EC-8315-F394-F904-032F6F4D5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205E953-41B4-716C-0C1D-EBC56D5DE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44ACEB2-35A2-B074-89EB-8866431889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634FD5-6CFB-30D0-FFF5-A8A65ACE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958531-5DE3-1D1D-213A-00D7E60388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9FC93B-93D5-26F4-0574-3F5755E35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465920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0DA0C-E041-E86A-332B-E3F4A274F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CB6D6C-45EE-C232-2C0F-849F571DE7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9B5081-ED3A-AFCF-9810-85B6CDC9F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AFED63-0A50-4142-3B96-A4C8C79F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112666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5BE331-580E-AB14-A716-B248E1487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0F4BB9-5A94-54AA-644C-F5BA27A1F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D1822-2DCF-CD8E-AC12-F46BE561D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215894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BED5-CF10-EC84-EF18-0413C18AB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9C746-51F5-8CC0-93E5-3003FBA859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C0F5D-68B9-068E-1051-4079D90A7B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E6A290-F705-F980-6C5B-5C9873275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0BF667-D583-9E7F-0EA9-59A5E3940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E761C1-937F-31C0-267B-907EE46C2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588115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E618B-6D78-5370-BF90-B6BCFF023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EAFBBF6-8EAB-7686-514F-7B344DC06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E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31443D-9DE2-9E04-4569-B282AB788B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5DEEA9-0BB1-593F-B53B-C127AB77F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862F28-8C32-9E25-9E4A-187973107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2CCB77-807A-97CF-B678-208C85FF4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537046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FA09F-0EC6-079F-9BB2-48264864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499573-1DAA-9475-18E9-C47ACA217E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7FED9-9874-8974-53B2-7CC4915C80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CA3363-D54C-48C7-956D-D77EFDAE2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A606AB-4289-6479-DC4D-701BECDD4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4111570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4A5688-EDCB-400C-8B5F-6BADA173C7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143429-0D14-C154-FFCE-590B9ADA9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14F33-8E77-6957-5D5F-3FD1FD4B9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C877B-00C5-A56D-6532-64D25AB78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ECDAFA-726A-606F-844D-6DA0AC3B7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17072128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53CC6-BBAA-F892-D26A-E43CB6EC78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E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19DC52-15AB-DFBD-ABF7-A57ED063C4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E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934246-A95A-4347-12E4-32F7C04365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3E047-0C45-6143-91AA-C4865AFDB7E7}" type="datetimeFigureOut">
              <a:rPr lang="en-EG" smtClean="0"/>
              <a:t>09/07/2023</a:t>
            </a:fld>
            <a:endParaRPr lang="en-E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A87A7A-E44B-8E07-4197-40A2E537B9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E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34FAB-9A3E-0ED6-830E-8C725276B7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E71F06-E3F5-E242-AD46-023EB074373D}" type="slidenum">
              <a:rPr lang="en-EG" smtClean="0"/>
              <a:t>‹#›</a:t>
            </a:fld>
            <a:endParaRPr lang="en-EG"/>
          </a:p>
        </p:txBody>
      </p:sp>
    </p:spTree>
    <p:extLst>
      <p:ext uri="{BB962C8B-B14F-4D97-AF65-F5344CB8AC3E}">
        <p14:creationId xmlns:p14="http://schemas.microsoft.com/office/powerpoint/2010/main" val="2392996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4" r:id="rId1"/>
    <p:sldLayoutId id="2147483775" r:id="rId2"/>
    <p:sldLayoutId id="2147483776" r:id="rId3"/>
    <p:sldLayoutId id="2147483777" r:id="rId4"/>
    <p:sldLayoutId id="2147483778" r:id="rId5"/>
    <p:sldLayoutId id="2147483779" r:id="rId6"/>
    <p:sldLayoutId id="2147483780" r:id="rId7"/>
    <p:sldLayoutId id="2147483781" r:id="rId8"/>
    <p:sldLayoutId id="2147483782" r:id="rId9"/>
    <p:sldLayoutId id="2147483783" r:id="rId10"/>
    <p:sldLayoutId id="214748378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6499"/>
                </a:solidFill>
                <a:latin typeface="Noto Serif"/>
              </a:rPr>
              <a:t>Intelligent Methods, Systems, and Applications</a:t>
            </a:r>
          </a:p>
          <a:p>
            <a:pPr algn="l"/>
            <a:r>
              <a:rPr sz="1600" b="1">
                <a:solidFill>
                  <a:srgbClr val="006499"/>
                </a:solidFill>
                <a:latin typeface="Noto Serif"/>
              </a:rPr>
              <a:t>(IMSA)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0"/>
            <a:ext cx="329184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801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006499"/>
                </a:solidFill>
                <a:latin typeface="Arial"/>
              </a:rPr>
              <a:t>An End-to-End Arabic Text Correction Framework:</a:t>
            </a:r>
          </a:p>
          <a:p>
            <a:pPr algn="ctr"/>
            <a:r>
              <a:rPr sz="2600" b="1">
                <a:solidFill>
                  <a:srgbClr val="006499"/>
                </a:solidFill>
                <a:latin typeface="Arial"/>
              </a:rPr>
              <a:t>Comparing Custom Character-Level Transformers</a:t>
            </a:r>
          </a:p>
          <a:p>
            <a:pPr algn="ctr"/>
            <a:r>
              <a:rPr sz="2600" b="1">
                <a:solidFill>
                  <a:srgbClr val="006499"/>
                </a:solidFill>
                <a:latin typeface="Arial"/>
              </a:rPr>
              <a:t>and Pre-trained AraBART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Arial"/>
              </a:rPr>
              <a:t>Mohamed Soltan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832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Dept. of Computer Science</a:t>
            </a:r>
          </a:p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MSA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Arial"/>
              </a:rPr>
              <a:t>Abdelmonem Hatem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3832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Dept. of Computer Science</a:t>
            </a:r>
          </a:p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MSA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Arial"/>
              </a:rPr>
              <a:t>Mohamed Taha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3832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Dept. of Computer Science</a:t>
            </a:r>
          </a:p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MSA University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30175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A1A1A"/>
                </a:solidFill>
                <a:latin typeface="Arial"/>
              </a:rPr>
              <a:t>Youssef Khalaf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3832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Dept. of Computer Science</a:t>
            </a:r>
          </a:p>
          <a:p>
            <a:pPr algn="ctr"/>
            <a:r>
              <a:rPr sz="1100" b="0">
                <a:solidFill>
                  <a:srgbClr val="4A5A6A"/>
                </a:solidFill>
                <a:latin typeface="Arial"/>
              </a:rPr>
              <a:t>MSA University</a:t>
            </a:r>
          </a:p>
        </p:txBody>
      </p:sp>
      <p:pic>
        <p:nvPicPr>
          <p:cNvPr id="13" name="Picture 12" descr="Picture 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5394960"/>
            <a:ext cx="1005840" cy="10058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54480" y="5669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A5A6A"/>
                </a:solidFill>
                <a:latin typeface="Arial"/>
              </a:rPr>
              <a:t>October University for Modern Sciences and Arts (MSA)</a:t>
            </a:r>
          </a:p>
          <a:p>
            <a:pPr algn="l"/>
            <a:r>
              <a:rPr sz="1200" b="0">
                <a:solidFill>
                  <a:srgbClr val="4A5A6A"/>
                </a:solidFill>
                <a:latin typeface="Arial"/>
              </a:rPr>
              <a:t>Cairo, Egypt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59436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006499"/>
                </a:solidFill>
                <a:latin typeface="Arial"/>
              </a:rPr>
              <a:t>IEEE / IMSA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Outline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417320"/>
            <a:ext cx="9144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Introduction &amp; Motivation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Problem Statement &amp; Soft Errors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Related Work &amp; Research Gap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Proposed End-to-End Framework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Data, Normalization &amp; Noise Injection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Custom Transformer Architecture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AraBART Multi-modal Deployment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Experiments, Metrics &amp; Baselines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Results, Error Analysis &amp; Discussion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A1A1A"/>
                </a:solidFill>
                <a:latin typeface="Arial"/>
              </a:rPr>
              <a:t>• Conclusion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Introduction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8016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Arabic text correction is critical for education, media QA, accessibility, and moderation.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Challenges: orthographic variants, visually confusable letters, optional diacritics, and spacing that changes meaning.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OCR and ASR add broken words, missing characters, merged tokens, and repeated substitutions.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Core design question: compact task-specific model vs. larger pre-trained Arabic model?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This work studies that trade-off with two complementary correction paths.</a:t>
            </a:r>
          </a:p>
        </p:txBody>
      </p:sp>
      <p:pic>
        <p:nvPicPr>
          <p:cNvPr id="5" name="Picture 4" descr="sof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212080" cy="243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Motivation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212080" cy="192024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OCR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Broken tokens, substitutions, and spacing errors from scanned Arabic documents.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371600"/>
            <a:ext cx="5212080" cy="192024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ASR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21488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Speech transcripts introduce phonetic and boundary mistakes.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657600"/>
            <a:ext cx="5212080" cy="192024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886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Typing Soft Errors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348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Alef/Hamza/Teh Marbuta confusions are frequent and meaning-changing.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657600"/>
            <a:ext cx="5212080" cy="192024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886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Deployment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434840"/>
            <a:ext cx="4754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Arial"/>
              </a:rPr>
              <a:t>Most Arabic studies report scores, few ship multi-modal user-facing systems.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Problem Statement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• Small character-level errors in Arabic can change meaning, break token boundaries, or reduce grammatical fluency.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• Correction is more than dictionary lookup — it needs sequence context at character and sentence levels.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• Existing resources often lack controlled noisy-clean pairs tailored to modern Arabic news orthography.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• Benchmarks alone are insufficient: real systems must also handle OCR images, audio, and live speech.</a:t>
            </a:r>
          </a:p>
          <a:p>
            <a:pPr algn="l">
              <a:spcAft>
                <a:spcPts val="1400"/>
              </a:spcAft>
            </a:pPr>
            <a:r>
              <a:rPr sz="1700" b="0">
                <a:solidFill>
                  <a:srgbClr val="1A1A1A"/>
                </a:solidFill>
                <a:latin typeface="Arial"/>
              </a:rPr>
              <a:t>• Goal: a reproducible end-to-end workflow covering data curation, noise synthesis, training, evaluation, and deployment.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Arabic Soft Error Categories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soft_erro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10972800" cy="51340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Guided by learner studies, social-media patterns, and editor correction logs (~85% of common Arabic spelling errors).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Contributions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con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71600"/>
            <a:ext cx="10789920" cy="40585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Related Work — Research Timeline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related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11338560" cy="44782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Related Work — Comparative Landscape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related_comparison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" y="1051560"/>
            <a:ext cx="11612880" cy="508663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Related Work — Capability Positioning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related_positio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11064240" cy="49497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Qualitative coverage view: prior systems are strong on soft spelling or GEC, but weak on multi-modal deployment + controlled end-to-end analysis together.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Research Gap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research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11247120" cy="51302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Proposed Framework Overview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two_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43000"/>
            <a:ext cx="11155680" cy="5014939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End-to-End Pipeline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pipelin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51560"/>
            <a:ext cx="11704320" cy="59754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Shared data path splits into Branch A (custom Transformer) and Branch B (AraBART multi-modal service).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Correction Examples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365760" y="1234440"/>
            <a:ext cx="5029200" cy="1417320"/>
          </a:xfrm>
          <a:prstGeom prst="roundRect">
            <a:avLst/>
          </a:prstGeom>
          <a:solidFill>
            <a:srgbClr val="FDEDEC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Arial"/>
              </a:rPr>
              <a:t>Noisy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916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اعلنت كليه الصيدله عن مواعبد التسجيل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234440"/>
            <a:ext cx="5029200" cy="1417320"/>
          </a:xfrm>
          <a:prstGeom prst="roundRect">
            <a:avLst/>
          </a:prstGeom>
          <a:solidFill>
            <a:srgbClr val="E8F8F0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20840" y="1325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Arial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916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أعلنت كلية الصيدلة عن مواعيد التسجيل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737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6499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2860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A6A"/>
                </a:solidFill>
                <a:latin typeface="Arial"/>
              </a:rPr>
              <a:t>Teh Marbuta / Heh + Alef + letter swaps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834640"/>
            <a:ext cx="5029200" cy="1417320"/>
          </a:xfrm>
          <a:prstGeom prst="roundRect">
            <a:avLst/>
          </a:prstGeom>
          <a:solidFill>
            <a:srgbClr val="FDEDEC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Arial"/>
              </a:rPr>
              <a:t>Noisy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291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انلقت مبادرة مدارس النيل المصرية الودلية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0" y="2834640"/>
            <a:ext cx="5029200" cy="1417320"/>
          </a:xfrm>
          <a:prstGeom prst="roundRect">
            <a:avLst/>
          </a:prstGeom>
          <a:solidFill>
            <a:srgbClr val="E8F8F0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926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Arial"/>
              </a:rPr>
              <a:t>Clean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2918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انطلقت مبادرة مدارس النيل المصرية الدولية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33375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6499"/>
                </a:solidFill>
                <a:latin typeface="Arial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8862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A6A"/>
                </a:solidFill>
                <a:latin typeface="Arial"/>
              </a:rPr>
              <a:t>Dropped / substituted characters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434840"/>
            <a:ext cx="5029200" cy="1417320"/>
          </a:xfrm>
          <a:prstGeom prst="roundRect">
            <a:avLst/>
          </a:prstGeom>
          <a:solidFill>
            <a:srgbClr val="FDEDEC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26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392B"/>
                </a:solidFill>
                <a:latin typeface="Arial"/>
              </a:rPr>
              <a:t>Noisy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892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هزا كتاب مفيد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0" y="4434840"/>
            <a:ext cx="5029200" cy="1417320"/>
          </a:xfrm>
          <a:prstGeom prst="roundRect">
            <a:avLst/>
          </a:prstGeom>
          <a:solidFill>
            <a:srgbClr val="E8F8F0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20840" y="4526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8B57"/>
                </a:solidFill>
                <a:latin typeface="Arial"/>
              </a:rPr>
              <a:t>Clean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4892040"/>
            <a:ext cx="4754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1A1A1A"/>
                </a:solidFill>
                <a:latin typeface="Arial"/>
              </a:rPr>
              <a:t>هذا كتاب مفيد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0" y="493775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6499"/>
                </a:solidFill>
                <a:latin typeface="Arial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5486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A5A6A"/>
                </a:solidFill>
                <a:latin typeface="Arial"/>
              </a:rPr>
              <a:t>Visual soft substitution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Data Acquisition &amp; Curation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8016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Scraped Youm7 Arabic news with async aiohttp + BeautifulSoup.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Polite crawling: 1–3s randomized delays, retries, robots.txt compliance.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Filters: remove boilerplate, short articles, and samples with &gt;15% non-Arabic.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Final clean corpus: 100,000 high-quality articles (news, education, health, tech).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Prepared 10,000 noisy-clean pairs for controlled modeling.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Split: 8,000 train / 1,000 val / 1,000 held-out test.</a:t>
            </a:r>
          </a:p>
        </p:txBody>
      </p:sp>
      <p:pic>
        <p:nvPicPr>
          <p:cNvPr id="5" name="Picture 4" descr="dataset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4937760" cy="49873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Arabic Corpus Context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2588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560320"/>
                <a:gridCol w="429768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Dataset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Scale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Use / Availability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Youm7 (this work)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100,000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Youm7 Egypt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Noisy-clean generation / Private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SANAD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194,797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AlKhaleej+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Classification / Public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Ultimate Arabic 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193,000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Multiple outlets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General NLP / Public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ANAD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12 news sites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Annotated news / Public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~1.85M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Regional newspapers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Multimodal metadata / Public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Wiki-40B (AR)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~1M+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Arabic Wikipedia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Language modeling / Public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Normalization &amp; Noise Injection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noise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097280"/>
            <a:ext cx="11338560" cy="4287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Deterministic normalization + 20% corruption budget enables reproducible character-level supervision.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Corruption Budget &amp; Soft Categories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corruption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5669280" cy="31575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0936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10% substitutions from confusable maps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5% deletions + 5% insertions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Keyboard-adjacency &amp; punctuation drift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Hamza/Alef, Teh Marbuta–Heh, Yaa/ى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Spacing boundary shifts included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Designed for typing + OCR + ASR realism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Custom Seq2Seq Transformer (Branch A)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seq2seq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51560"/>
            <a:ext cx="11704320" cy="551617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Transformer Encoder–Decoder Intuition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examp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097280"/>
            <a:ext cx="7315200" cy="55992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Noisy Arabic → embeddings + positions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Encoder builds contextual memory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Decoder generates corrected chars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Cross-attention links source ↔ target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Softmax over character vocabulary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Model Configuration &amp; Training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280160"/>
            <a:ext cx="5303520" cy="475488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202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Character-level encoder-decoder Transformer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Embedding dim: 256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Encoder / Decoder layers: 3 / 3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Attention heads: 8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FFN dimension: 512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Dropout: 0.1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Max sequence length: 128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280160"/>
            <a:ext cx="5303520" cy="475488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4173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Training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Optimizer: Adam (lr = 1e-4)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Loss: sparse categorical cross-entropy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Scheduled sampling: teacher forcing 1.0 → 0.3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Mixed precision + checkpointing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Batch size: 32 | Epochs: 10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GPU training ≈ 100 minutes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Checkpoint size ≈ 50 MB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AraBART Deployment Service (Branch B)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multimodal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7280"/>
            <a:ext cx="11430000" cy="4514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Model: CAMeL-Lab/arabart-qalb15-gec-ged-13 via Hugging Face + Streamlit (OCR.space + Whisper).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Why AraBART for Deployment?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Pretrained Arabic seq2seq model fine-tuned for GEC/GED.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Strong fluency on orthography + grammar-oriented edits.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Zero-shot adoption in this study (no project fine-tuning).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Supports text, files, OCR images, audio, and live speech.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Trade-off: heavier footprint (~1.5 GB) vs. broader usability.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Complements the compact custom Transformer path.</a:t>
            </a:r>
          </a:p>
        </p:txBody>
      </p:sp>
      <p:pic>
        <p:nvPicPr>
          <p:cNvPr id="5" name="Picture 4" descr="footpr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029200" cy="279709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Evaluation Metrics &amp; Protocol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eval_protoc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11247120" cy="483428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Primary Metric: Character Error Rate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371600"/>
            <a:ext cx="5303520" cy="292608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6499"/>
                </a:solidFill>
                <a:latin typeface="Arial"/>
              </a:rPr>
              <a:t>CER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>CER = (S + D + I) / N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>S = substitutions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>D = deletions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>I = insertions</a:t>
            </a:r>
          </a:p>
          <a:p>
            <a:pPr algn="l"/>
            <a:r>
              <a:rPr sz="1600" b="0">
                <a:solidFill>
                  <a:srgbClr val="1A1A1A"/>
                </a:solidFill>
                <a:latin typeface="Arial"/>
              </a:rPr>
              <a:t>N = reference length (characters)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CER suits character-level soft spelling correction.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BLEU used as secondary lexical/sequence quality metric.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Baselines: normalization-only + dictionary correction.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Project reference ranges: rule-based &amp; BiLSTM-style.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Always report setting A and setting B separately.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Baseline Context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baseline_b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188720"/>
            <a:ext cx="9601200" cy="50738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Custom Transformer reaches 89.36% character accuracy on synthetic project runs — best in-domain fidelity.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Headline Results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metric_c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11064240" cy="35910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46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5A6A"/>
                </a:solidFill>
                <a:latin typeface="Arial"/>
              </a:rPr>
              <a:t>Read as two settings: in-domain reconstruction fidelity vs. zero-shot multi-modal deployment.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Training Dynamics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training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43000"/>
            <a:ext cx="7315200" cy="38630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Epoch 1: 38.38%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Epoch 6 peak: 91.69%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Epoch 10: 89.36%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Fast early learning of dominant patterns.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Later slight drop suggests mild overfitting to synthetic noise.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Earlier stopping / stronger regularization recommended.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Side-by-Side Results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1556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89120"/>
                <a:gridCol w="43891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Attribute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Custom Transformer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AraBART Service</a:t>
                      </a:r>
                    </a:p>
                  </a:txBody>
                  <a:tcPr>
                    <a:solidFill>
                      <a:srgbClr val="00649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Setting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In-domain synthetic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Zero-shot multi-modal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Char seq2seq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arabart-qalb15-gec-ged-13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CER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0.0364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0.0950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BLEU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0.292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Not reported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Peak token acc.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91.69%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N/A (pre-trained)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Fine-tuning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Training time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~100 min GPU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Inference only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~50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~1.5 GB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A1A1A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Text pipeline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A1A1A"/>
                          </a:solidFill>
                          <a:latin typeface="Arial"/>
                        </a:rPr>
                        <a:t>Text, file, OCR, audio, speech</a:t>
                      </a:r>
                    </a:p>
                  </a:txBody>
                  <a:tcPr>
                    <a:solidFill>
                      <a:srgbClr val="F0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CER Comparison Across Settings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cer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7132320" cy="399367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64592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Lower CER = better reconstruction.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Custom model wins in-domain fidelity.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AraBART remains preferred for fluency and multi-modal robustness.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Not a like-for-like contest — two operating settings.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CER Distribution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c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88720"/>
            <a:ext cx="7498079" cy="4188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Most samples concentrate in a low-CER band.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Indicates stable correction, not luck on a few cases.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Right tail = heavy corruption samples.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Useful for reliability assessment in deployment.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Character Confusion Matrix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c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51560"/>
            <a:ext cx="5849419" cy="5303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71600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Strong diagonal = solid identity mapping.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Off-diagonal cells reveal persistent substitutions.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Hard cases: Alef/Hamza variants, Yaa/Alif-Maqsura, Teh Marbuta/Heh.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Whitespace boundary errors amplify local drift.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Guides targeted augmentation and loss design.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Error Analysis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error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188720"/>
            <a:ext cx="5486400" cy="49383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Substitutions dominate (~60–70%).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Insertions and deletions each ~15–20%.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Matches Arabic soft-error behavior: near-equivalent character choice.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Future work should prioritize whitespace + Alef/Hamza contrasts.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Arial"/>
              </a:rPr>
              <a:t>• Curriculum / class-weighted objectives can reduce hard confusions.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Discussion &amp; Deployment Implications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pic>
        <p:nvPicPr>
          <p:cNvPr id="4" name="Picture 3" descr="takeaway_quadr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97280"/>
            <a:ext cx="6400800" cy="32973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Custom Transformer: best fidelity + tiny checkpoint.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AraBART: best fluency across modalities.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Recommended production pattern: two-tier routing.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A1A1A"/>
                </a:solidFill>
                <a:latin typeface="Arial"/>
              </a:rPr>
              <a:t>• Next: shared QALB fair comparison.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Conclusion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371600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Delivered a reproducible Arabic correction workflow: collect → normalize → synthesize → train → evaluate → deploy.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Custom character-level Transformer: strong in-domain reconstruction (CER 0.0364, peak accuracy 91.69%).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AraBART Streamlit service: better practical fluency across text, OCR, audio, and live speech.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Remaining errors concentrate in whitespace and Alef/Hamza-style confusions.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• Best practice: two-tier system — compact model for control, pre-trained service for real-world use.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Future Work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28016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1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Targeted Augmentation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Focus synthetic noise on Alef/Hamza, Teh Marbuta/Heh, and whitespace boundaries.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28016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1417319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Regularization &amp; Early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Preserve peak generalization near epoch 6 and reduce late overfitting.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92608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Shared Benchmarks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Fair comparison on external datasets such as QALB.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292608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306324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Dialect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42900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Extend to dialectal Arabic with dialect ID + focused data collection.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57200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Grammar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749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Add grammar-aware detection for broader writing-support systems.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212080" cy="1417320"/>
          </a:xfrm>
          <a:prstGeom prst="roundRect">
            <a:avLst/>
          </a:prstGeom>
          <a:solidFill>
            <a:srgbClr val="F0F7FB"/>
          </a:solidFill>
          <a:ln w="15875">
            <a:solidFill>
              <a:srgbClr val="0064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709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6499"/>
                </a:solidFill>
                <a:latin typeface="Arial"/>
              </a:rPr>
              <a:t>Confidence Estimation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0749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Arial"/>
              </a:rPr>
              <a:t>Production-ready uncertainty signals for safer corrections.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56032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006499"/>
                </a:solidFill>
                <a:latin typeface="Arial"/>
              </a:rPr>
              <a:t>Selected References</a:t>
            </a:r>
          </a:p>
        </p:txBody>
      </p:sp>
      <p:pic>
        <p:nvPicPr>
          <p:cNvPr id="3" name="Picture 2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45720"/>
            <a:ext cx="3200400" cy="853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Mohit et al. / Rozovskaya et al., QALB-2014 &amp; QALB-2015 Arabic GEC Shared Tasks.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Abandah et al., Correcting Arabic Soft Spelling Mistakes Using BiLSTM, IJACSA, 2022.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Al-Qaraghuli &amp; Jaafar, Arabic Soft Spelling Correction with T5, JJCIT, 2024.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Alhafni, Inoue, Khairallah &amp; Habash, Arabic GED/GEC with AraBART, EMNLP 2023.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Antoun et al., AraBERT; Inoue et al., CAMeL Tools / Arabic pretraining.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Vaswani et al., Attention Is All You Need, NeurIPS, 2017.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Lewis et al., BART; Raffel et al., T5 — denoising seq2seq pretraining.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CAMeL-Lab AraBART (arabart-qalb15-gec-ged-13), Hugging Face.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1A1A1A"/>
                </a:solidFill>
                <a:latin typeface="Arial"/>
              </a:rPr>
              <a:t>• Radford et al., Whisper; OCR.space API for multi-modal ingestion.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cture 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0" y="91440"/>
            <a:ext cx="3200400" cy="853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06499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004466"/>
                </a:solidFill>
                <a:latin typeface="Arial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A5A6A"/>
                </a:solidFill>
                <a:latin typeface="Arial"/>
              </a:rPr>
              <a:t>Mohamed Soltan  •  Abdelmonem Hatem  •  Mohamed Taha  •  Youssef Khalaf</a:t>
            </a:r>
          </a:p>
          <a:p>
            <a:pPr algn="ctr"/>
            <a:r>
              <a:rPr sz="1400" b="0">
                <a:solidFill>
                  <a:srgbClr val="4A5A6A"/>
                </a:solidFill>
                <a:latin typeface="Arial"/>
              </a:rPr>
              <a:t>October University for Modern Sciences and Arts (MSA)</a:t>
            </a:r>
          </a:p>
        </p:txBody>
      </p:sp>
      <p:pic>
        <p:nvPicPr>
          <p:cNvPr id="6" name="Picture 5" descr="Picture 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539496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8960</TotalTime>
  <Words>2779</Words>
  <Application>Microsoft Macintosh PowerPoint</Application>
  <PresentationFormat>Widescreen</PresentationFormat>
  <Paragraphs>268</Paragraphs>
  <Slides>24</Slides>
  <Notes>15</Notes>
  <HiddenSlides>2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Arial</vt:lpstr>
      <vt:lpstr>Calibri</vt:lpstr>
      <vt:lpstr>Calibri Light</vt:lpstr>
      <vt:lpstr>MyriadPro</vt:lpstr>
      <vt:lpstr>NimbusRomNo9L</vt:lpstr>
      <vt:lpstr>Noto Serif</vt:lpstr>
      <vt:lpstr>Palatino Linotype</vt:lpstr>
      <vt:lpstr>Source Sans Pro</vt:lpstr>
      <vt:lpstr>Times</vt:lpstr>
      <vt:lpstr>TimesNewRomanPSMT</vt:lpstr>
      <vt:lpstr>URWPalladioL</vt:lpstr>
      <vt:lpstr>Office Theme</vt:lpstr>
      <vt:lpstr>A Framework for Assessing Physical Rehabilitation Exercises</vt:lpstr>
      <vt:lpstr>Outlines</vt:lpstr>
      <vt:lpstr>Introduction 1/2</vt:lpstr>
      <vt:lpstr>Introduction 2/2</vt:lpstr>
      <vt:lpstr>Motivation</vt:lpstr>
      <vt:lpstr>Problem Statement</vt:lpstr>
      <vt:lpstr>Related Work</vt:lpstr>
      <vt:lpstr>Related Work 1/2 :  Direct rehabilitation systems  :  Pure vision‐based </vt:lpstr>
      <vt:lpstr>Related Work 2/2  :  Virtual Rehabilitation systems  :  Multi-Modal</vt:lpstr>
      <vt:lpstr>Related Work 1/2 : </vt:lpstr>
      <vt:lpstr>PowerPoint Presentation</vt:lpstr>
      <vt:lpstr>Proposed Framework</vt:lpstr>
      <vt:lpstr>Datasets</vt:lpstr>
      <vt:lpstr>Preprocessing</vt:lpstr>
      <vt:lpstr>Feature Engineering</vt:lpstr>
      <vt:lpstr>Expierments</vt:lpstr>
      <vt:lpstr>Used Algorithms 1 of 2</vt:lpstr>
      <vt:lpstr>Used Algorithms 2 of 2</vt:lpstr>
      <vt:lpstr>Expierments 1 of 2</vt:lpstr>
      <vt:lpstr>Expierments 2 of 2</vt:lpstr>
      <vt:lpstr>Results </vt:lpstr>
      <vt:lpstr>Conclusion</vt:lpstr>
      <vt:lpstr>Future Work</vt:lpstr>
      <vt:lpstr>Reference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Human Activity Recognition to Classify Common Physical Weakness</dc:title>
  <dc:creator>Mo'men Ibrahem</dc:creator>
  <cp:lastModifiedBy>Mo'men Ibrahem</cp:lastModifiedBy>
  <cp:revision>20</cp:revision>
  <dcterms:created xsi:type="dcterms:W3CDTF">2022-09-11T07:44:25Z</dcterms:created>
  <dcterms:modified xsi:type="dcterms:W3CDTF">2023-07-09T06:13:35Z</dcterms:modified>
</cp:coreProperties>
</file>